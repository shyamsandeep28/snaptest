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9" r:id="rId2"/>
  </p:sldMasterIdLst>
  <p:notesMasterIdLst>
    <p:notesMasterId r:id="rId44"/>
  </p:notesMasterIdLst>
  <p:sldIdLst>
    <p:sldId id="289" r:id="rId3"/>
    <p:sldId id="313" r:id="rId4"/>
    <p:sldId id="305" r:id="rId5"/>
    <p:sldId id="314" r:id="rId6"/>
    <p:sldId id="315" r:id="rId7"/>
    <p:sldId id="304" r:id="rId8"/>
    <p:sldId id="344" r:id="rId9"/>
    <p:sldId id="345" r:id="rId10"/>
    <p:sldId id="346" r:id="rId11"/>
    <p:sldId id="306" r:id="rId12"/>
    <p:sldId id="358" r:id="rId13"/>
    <p:sldId id="357" r:id="rId14"/>
    <p:sldId id="311" r:id="rId15"/>
    <p:sldId id="312" r:id="rId16"/>
    <p:sldId id="316" r:id="rId17"/>
    <p:sldId id="317" r:id="rId18"/>
    <p:sldId id="318" r:id="rId19"/>
    <p:sldId id="323" r:id="rId20"/>
    <p:sldId id="324" r:id="rId21"/>
    <p:sldId id="325" r:id="rId22"/>
    <p:sldId id="326" r:id="rId23"/>
    <p:sldId id="330" r:id="rId24"/>
    <p:sldId id="331" r:id="rId25"/>
    <p:sldId id="327" r:id="rId26"/>
    <p:sldId id="328" r:id="rId27"/>
    <p:sldId id="332" r:id="rId28"/>
    <p:sldId id="336" r:id="rId29"/>
    <p:sldId id="338" r:id="rId30"/>
    <p:sldId id="359" r:id="rId31"/>
    <p:sldId id="339" r:id="rId32"/>
    <p:sldId id="340" r:id="rId33"/>
    <p:sldId id="342" r:id="rId34"/>
    <p:sldId id="347" r:id="rId35"/>
    <p:sldId id="349" r:id="rId36"/>
    <p:sldId id="351" r:id="rId37"/>
    <p:sldId id="352" r:id="rId38"/>
    <p:sldId id="353" r:id="rId39"/>
    <p:sldId id="354" r:id="rId40"/>
    <p:sldId id="355" r:id="rId41"/>
    <p:sldId id="295" r:id="rId42"/>
    <p:sldId id="356"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UMYA" initials="S" lastIdx="1" clrIdx="0">
    <p:extLst>
      <p:ext uri="{19B8F6BF-5375-455C-9EA6-DF929625EA0E}">
        <p15:presenceInfo xmlns:p15="http://schemas.microsoft.com/office/powerpoint/2012/main" userId="SAUMY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5033" autoAdjust="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C4E76-D40F-4689-B550-454234D59D68}" type="datetimeFigureOut">
              <a:rPr lang="en-US" smtClean="0"/>
              <a:t>6/9/2025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A956E3-37B9-435D-8C7F-F8A2A9DE10B8}" type="slidenum">
              <a:rPr lang="en-US" smtClean="0"/>
              <a:t>‹#›</a:t>
            </a:fld>
            <a:endParaRPr lang="en-US"/>
          </a:p>
        </p:txBody>
      </p:sp>
    </p:spTree>
    <p:extLst>
      <p:ext uri="{BB962C8B-B14F-4D97-AF65-F5344CB8AC3E}">
        <p14:creationId xmlns:p14="http://schemas.microsoft.com/office/powerpoint/2010/main" val="2439721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A956E3-37B9-435D-8C7F-F8A2A9DE10B8}" type="slidenum">
              <a:rPr lang="en-US" smtClean="0"/>
              <a:t>1</a:t>
            </a:fld>
            <a:endParaRPr lang="en-US"/>
          </a:p>
        </p:txBody>
      </p:sp>
    </p:spTree>
    <p:extLst>
      <p:ext uri="{BB962C8B-B14F-4D97-AF65-F5344CB8AC3E}">
        <p14:creationId xmlns:p14="http://schemas.microsoft.com/office/powerpoint/2010/main" val="3910749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A956E3-37B9-435D-8C7F-F8A2A9DE10B8}" type="slidenum">
              <a:rPr lang="en-US" smtClean="0"/>
              <a:t>4</a:t>
            </a:fld>
            <a:endParaRPr lang="en-US"/>
          </a:p>
        </p:txBody>
      </p:sp>
    </p:spTree>
    <p:extLst>
      <p:ext uri="{BB962C8B-B14F-4D97-AF65-F5344CB8AC3E}">
        <p14:creationId xmlns:p14="http://schemas.microsoft.com/office/powerpoint/2010/main" val="95960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A956E3-37B9-435D-8C7F-F8A2A9DE10B8}" type="slidenum">
              <a:rPr lang="en-US" smtClean="0"/>
              <a:t>5</a:t>
            </a:fld>
            <a:endParaRPr lang="en-US"/>
          </a:p>
        </p:txBody>
      </p:sp>
    </p:spTree>
    <p:extLst>
      <p:ext uri="{BB962C8B-B14F-4D97-AF65-F5344CB8AC3E}">
        <p14:creationId xmlns:p14="http://schemas.microsoft.com/office/powerpoint/2010/main" val="1178850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A956E3-37B9-435D-8C7F-F8A2A9DE10B8}" type="slidenum">
              <a:rPr lang="en-US" smtClean="0"/>
              <a:t>12</a:t>
            </a:fld>
            <a:endParaRPr lang="en-US"/>
          </a:p>
        </p:txBody>
      </p:sp>
    </p:spTree>
    <p:extLst>
      <p:ext uri="{BB962C8B-B14F-4D97-AF65-F5344CB8AC3E}">
        <p14:creationId xmlns:p14="http://schemas.microsoft.com/office/powerpoint/2010/main" val="1734570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JSS</a:t>
            </a:r>
          </a:p>
        </p:txBody>
      </p:sp>
      <p:sp>
        <p:nvSpPr>
          <p:cNvPr id="4" name="Slide Number Placeholder 3"/>
          <p:cNvSpPr>
            <a:spLocks noGrp="1"/>
          </p:cNvSpPr>
          <p:nvPr>
            <p:ph type="sldNum" sz="quarter" idx="5"/>
          </p:nvPr>
        </p:nvSpPr>
        <p:spPr/>
        <p:txBody>
          <a:bodyPr/>
          <a:lstStyle/>
          <a:p>
            <a:fld id="{6E135B6B-9F5F-480F-AD15-EB5A7C45042E}" type="slidenum">
              <a:rPr lang="en-US" smtClean="0"/>
              <a:t>40</a:t>
            </a:fld>
            <a:endParaRPr lang="en-US"/>
          </a:p>
        </p:txBody>
      </p:sp>
    </p:spTree>
    <p:extLst>
      <p:ext uri="{BB962C8B-B14F-4D97-AF65-F5344CB8AC3E}">
        <p14:creationId xmlns:p14="http://schemas.microsoft.com/office/powerpoint/2010/main" val="182934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solidFill>
                <a:prstClr val="black"/>
              </a:solidFill>
            </a:endParaRPr>
          </a:p>
        </p:txBody>
      </p:sp>
      <p:sp>
        <p:nvSpPr>
          <p:cNvPr id="5" name="Footer Placeholder 4"/>
          <p:cNvSpPr>
            <a:spLocks noGrp="1"/>
          </p:cNvSpPr>
          <p:nvPr>
            <p:ph type="ftr" sz="quarter" idx="11"/>
          </p:nvPr>
        </p:nvSpPr>
        <p:spPr/>
        <p:txBody>
          <a:bodyPr/>
          <a:lstStyle/>
          <a:p>
            <a:endParaRPr lang="en-IN">
              <a:solidFill>
                <a:prstClr val="black"/>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07570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07977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solidFill>
                <a:prstClr val="black"/>
              </a:solidFill>
            </a:endParaRPr>
          </a:p>
        </p:txBody>
      </p:sp>
      <p:sp>
        <p:nvSpPr>
          <p:cNvPr id="5" name="Footer Placeholder 4"/>
          <p:cNvSpPr>
            <a:spLocks noGrp="1"/>
          </p:cNvSpPr>
          <p:nvPr>
            <p:ph type="ftr" sz="quarter" idx="11"/>
          </p:nvPr>
        </p:nvSpPr>
        <p:spPr/>
        <p:txBody>
          <a:bodyPr/>
          <a:lstStyle/>
          <a:p>
            <a:endParaRPr lang="en-IN">
              <a:solidFill>
                <a:prstClr val="black"/>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92569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solidFill>
                <a:prstClr val="black"/>
              </a:solidFill>
            </a:endParaRPr>
          </a:p>
        </p:txBody>
      </p:sp>
      <p:sp>
        <p:nvSpPr>
          <p:cNvPr id="6" name="Footer Placeholder 5"/>
          <p:cNvSpPr>
            <a:spLocks noGrp="1"/>
          </p:cNvSpPr>
          <p:nvPr>
            <p:ph type="ftr" sz="quarter" idx="11"/>
          </p:nvPr>
        </p:nvSpPr>
        <p:spPr/>
        <p:txBody>
          <a:bodyPr/>
          <a:lstStyle/>
          <a:p>
            <a:endParaRPr lang="en-IN">
              <a:solidFill>
                <a:prstClr val="black"/>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001959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solidFill>
                <a:prstClr val="black"/>
              </a:solidFill>
            </a:endParaRPr>
          </a:p>
        </p:txBody>
      </p:sp>
      <p:sp>
        <p:nvSpPr>
          <p:cNvPr id="8" name="Footer Placeholder 7"/>
          <p:cNvSpPr>
            <a:spLocks noGrp="1"/>
          </p:cNvSpPr>
          <p:nvPr>
            <p:ph type="ftr" sz="quarter" idx="11"/>
          </p:nvPr>
        </p:nvSpPr>
        <p:spPr/>
        <p:txBody>
          <a:bodyPr/>
          <a:lstStyle/>
          <a:p>
            <a:endParaRPr lang="en-IN">
              <a:solidFill>
                <a:prstClr val="black"/>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025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solidFill>
                <a:prstClr val="black"/>
              </a:solidFill>
            </a:endParaRPr>
          </a:p>
        </p:txBody>
      </p:sp>
      <p:sp>
        <p:nvSpPr>
          <p:cNvPr id="4" name="Footer Placeholder 3"/>
          <p:cNvSpPr>
            <a:spLocks noGrp="1"/>
          </p:cNvSpPr>
          <p:nvPr>
            <p:ph type="ftr" sz="quarter" idx="11"/>
          </p:nvPr>
        </p:nvSpPr>
        <p:spPr/>
        <p:txBody>
          <a:bodyPr/>
          <a:lstStyle/>
          <a:p>
            <a:endParaRPr lang="en-IN">
              <a:solidFill>
                <a:prstClr val="black"/>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54851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solidFill>
                <a:prstClr val="black"/>
              </a:solidFill>
            </a:endParaRPr>
          </a:p>
        </p:txBody>
      </p:sp>
      <p:sp>
        <p:nvSpPr>
          <p:cNvPr id="3" name="Footer Placeholder 2"/>
          <p:cNvSpPr>
            <a:spLocks noGrp="1"/>
          </p:cNvSpPr>
          <p:nvPr>
            <p:ph type="ftr" sz="quarter" idx="11"/>
          </p:nvPr>
        </p:nvSpPr>
        <p:spPr/>
        <p:txBody>
          <a:bodyPr/>
          <a:lstStyle/>
          <a:p>
            <a:endParaRPr lang="en-IN">
              <a:solidFill>
                <a:prstClr val="black"/>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480386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solidFill>
                <a:prstClr val="black"/>
              </a:solidFill>
            </a:endParaRPr>
          </a:p>
        </p:txBody>
      </p:sp>
      <p:sp>
        <p:nvSpPr>
          <p:cNvPr id="6" name="Footer Placeholder 5"/>
          <p:cNvSpPr>
            <a:spLocks noGrp="1"/>
          </p:cNvSpPr>
          <p:nvPr>
            <p:ph type="ftr" sz="quarter" idx="11"/>
          </p:nvPr>
        </p:nvSpPr>
        <p:spPr/>
        <p:txBody>
          <a:bodyPr/>
          <a:lstStyle/>
          <a:p>
            <a:endParaRPr lang="en-IN">
              <a:solidFill>
                <a:prstClr val="black"/>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73335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solidFill>
                <a:prstClr val="black"/>
              </a:solidFill>
            </a:endParaRPr>
          </a:p>
        </p:txBody>
      </p:sp>
      <p:sp>
        <p:nvSpPr>
          <p:cNvPr id="6" name="Footer Placeholder 5"/>
          <p:cNvSpPr>
            <a:spLocks noGrp="1"/>
          </p:cNvSpPr>
          <p:nvPr>
            <p:ph type="ftr" sz="quarter" idx="11"/>
          </p:nvPr>
        </p:nvSpPr>
        <p:spPr/>
        <p:txBody>
          <a:bodyPr/>
          <a:lstStyle/>
          <a:p>
            <a:endParaRPr lang="en-IN">
              <a:solidFill>
                <a:prstClr val="black"/>
              </a:solidFill>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7718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75410809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5306170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0616929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0244111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66077589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solidFill>
                <a:prstClr val="black"/>
              </a:solidFill>
            </a:endParaRPr>
          </a:p>
        </p:txBody>
      </p:sp>
      <p:sp>
        <p:nvSpPr>
          <p:cNvPr id="5" name="Footer Placeholder 4"/>
          <p:cNvSpPr>
            <a:spLocks noGrp="1"/>
          </p:cNvSpPr>
          <p:nvPr>
            <p:ph type="ftr" sz="quarter" idx="11"/>
          </p:nvPr>
        </p:nvSpPr>
        <p:spPr/>
        <p:txBody>
          <a:bodyPr/>
          <a:lstStyle/>
          <a:p>
            <a:endParaRPr lang="en-IN">
              <a:solidFill>
                <a:prstClr val="black"/>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97505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solidFill>
                <a:prstClr val="black"/>
              </a:solidFill>
            </a:endParaRPr>
          </a:p>
        </p:txBody>
      </p:sp>
      <p:sp>
        <p:nvSpPr>
          <p:cNvPr id="5" name="Footer Placeholder 4"/>
          <p:cNvSpPr>
            <a:spLocks noGrp="1"/>
          </p:cNvSpPr>
          <p:nvPr>
            <p:ph type="ftr" sz="quarter" idx="11"/>
          </p:nvPr>
        </p:nvSpPr>
        <p:spPr/>
        <p:txBody>
          <a:bodyPr/>
          <a:lstStyle/>
          <a:p>
            <a:endParaRPr lang="en-IN">
              <a:solidFill>
                <a:prstClr val="black"/>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8FC1071-F2DF-4CA9-AA63-FF97A16BD73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749325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DF2B1E-9774-4477-9F96-D1E5F43AAC66}"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31013303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DF2B1E-9774-4477-9F96-D1E5F43AAC66}"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32148618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DF2B1E-9774-4477-9F96-D1E5F43AAC66}"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29939235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DF2B1E-9774-4477-9F96-D1E5F43AAC66}" type="datetimeFigureOut">
              <a:rPr lang="en-IN" smtClean="0"/>
              <a:t>09-06-2025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2066801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DF2B1E-9774-4477-9F96-D1E5F43AAC66}" type="datetimeFigureOut">
              <a:rPr lang="en-IN" smtClean="0"/>
              <a:t>09-06-2025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6393941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DF2B1E-9774-4477-9F96-D1E5F43AAC66}" type="datetimeFigureOut">
              <a:rPr lang="en-IN" smtClean="0"/>
              <a:t>09-06-2025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28231374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DF2B1E-9774-4477-9F96-D1E5F43AAC66}" type="datetimeFigureOut">
              <a:rPr lang="en-IN" smtClean="0"/>
              <a:t>09-06-2025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41938540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DF2B1E-9774-4477-9F96-D1E5F43AAC66}" type="datetimeFigureOut">
              <a:rPr lang="en-IN" smtClean="0"/>
              <a:t>09-06-2025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1400696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DF2B1E-9774-4477-9F96-D1E5F43AAC66}" type="datetimeFigureOut">
              <a:rPr lang="en-IN" smtClean="0"/>
              <a:t>09-06-2025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25556311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DF2B1E-9774-4477-9F96-D1E5F43AAC66}"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35737363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DF2B1E-9774-4477-9F96-D1E5F43AAC66}"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47259C9-8556-4F8F-8971-C0FF2F7FEF4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39582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3DF2B1E-9774-4477-9F96-D1E5F43AAC66}" type="datetimeFigureOut">
              <a:rPr lang="en-IN" smtClean="0"/>
              <a:t>09-06-2025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31060114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3DF2B1E-9774-4477-9F96-D1E5F43AAC66}" type="datetimeFigureOut">
              <a:rPr lang="en-IN" smtClean="0"/>
              <a:t>09-06-2025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47259C9-8556-4F8F-8971-C0FF2F7FEF4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257078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3DF2B1E-9774-4477-9F96-D1E5F43AAC66}" type="datetimeFigureOut">
              <a:rPr lang="en-IN" smtClean="0"/>
              <a:t>09-06-2025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7496557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DF2B1E-9774-4477-9F96-D1E5F43AAC66}"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3324459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DF2B1E-9774-4477-9F96-D1E5F43AAC66}" type="datetimeFigureOut">
              <a:rPr lang="en-IN" smtClean="0"/>
              <a:t>09-06-2025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47259C9-8556-4F8F-8971-C0FF2F7FEF43}" type="slidenum">
              <a:rPr lang="en-IN" smtClean="0"/>
              <a:t>‹#›</a:t>
            </a:fld>
            <a:endParaRPr lang="en-IN"/>
          </a:p>
        </p:txBody>
      </p:sp>
    </p:spTree>
    <p:extLst>
      <p:ext uri="{BB962C8B-B14F-4D97-AF65-F5344CB8AC3E}">
        <p14:creationId xmlns:p14="http://schemas.microsoft.com/office/powerpoint/2010/main" val="3345129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3DF2B1E-9774-4477-9F96-D1E5F43AAC66}" type="datetimeFigureOut">
              <a:rPr lang="en-IN" smtClean="0"/>
              <a:t>09-06-2025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47259C9-8556-4F8F-8971-C0FF2F7FEF43}" type="slidenum">
              <a:rPr lang="en-IN" smtClean="0"/>
              <a:t>‹#›</a:t>
            </a:fld>
            <a:endParaRPr lang="en-IN"/>
          </a:p>
        </p:txBody>
      </p:sp>
    </p:spTree>
    <p:extLst>
      <p:ext uri="{BB962C8B-B14F-4D97-AF65-F5344CB8AC3E}">
        <p14:creationId xmlns:p14="http://schemas.microsoft.com/office/powerpoint/2010/main" val="25190922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3DF2B1E-9774-4477-9F96-D1E5F43AAC66}" type="datetimeFigureOut">
              <a:rPr lang="en-IN" smtClean="0"/>
              <a:t>09-06-2025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47259C9-8556-4F8F-8971-C0FF2F7FEF43}" type="slidenum">
              <a:rPr lang="en-IN" smtClean="0"/>
              <a:t>‹#›</a:t>
            </a:fld>
            <a:endParaRPr lang="en-IN"/>
          </a:p>
        </p:txBody>
      </p:sp>
    </p:spTree>
    <p:extLst>
      <p:ext uri="{BB962C8B-B14F-4D97-AF65-F5344CB8AC3E}">
        <p14:creationId xmlns:p14="http://schemas.microsoft.com/office/powerpoint/2010/main" val="144476773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19.png"/><Relationship Id="rId1" Type="http://schemas.openxmlformats.org/officeDocument/2006/relationships/slideLayout" Target="../slideLayouts/slideLayout23.xml"/><Relationship Id="rId6" Type="http://schemas.openxmlformats.org/officeDocument/2006/relationships/image" Target="../media/image21.emf"/><Relationship Id="rId5" Type="http://schemas.openxmlformats.org/officeDocument/2006/relationships/package" Target="../embeddings/Microsoft_Excel_Worksheet1.xlsx"/><Relationship Id="rId4" Type="http://schemas.openxmlformats.org/officeDocument/2006/relationships/image" Target="../media/image20.emf"/></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FC1071-F2DF-4CA9-AA63-FF97A16BD739}" type="slidenum">
              <a:rPr lang="en-IN" smtClean="0"/>
              <a:pPr/>
              <a:t>1</a:t>
            </a:fld>
            <a:endParaRPr lang="en-IN" dirty="0"/>
          </a:p>
        </p:txBody>
      </p:sp>
      <p:sp>
        <p:nvSpPr>
          <p:cNvPr id="3" name="Rectangle 2"/>
          <p:cNvSpPr/>
          <p:nvPr/>
        </p:nvSpPr>
        <p:spPr>
          <a:xfrm>
            <a:off x="1782679" y="5877646"/>
            <a:ext cx="8915399" cy="954107"/>
          </a:xfrm>
          <a:prstGeom prst="rect">
            <a:avLst/>
          </a:prstGeom>
        </p:spPr>
        <p:txBody>
          <a:bodyPr wrap="square">
            <a:spAutoFit/>
          </a:bodyPr>
          <a:lstStyle/>
          <a:p>
            <a:pPr lvl="0" algn="ctr" eaLnBrk="0" fontAlgn="base" hangingPunct="0">
              <a:spcBef>
                <a:spcPct val="0"/>
              </a:spcBef>
              <a:spcAft>
                <a:spcPct val="0"/>
              </a:spcAft>
            </a:pPr>
            <a:r>
              <a:rPr lang="en-US" sz="2800" b="1" dirty="0">
                <a:solidFill>
                  <a:srgbClr val="0033CC"/>
                </a:solidFill>
                <a:latin typeface="Cambria" pitchFamily="18" charset="0"/>
                <a:ea typeface="Droid Sans Fallback"/>
                <a:cs typeface="Times New Roman" pitchFamily="18" charset="0"/>
              </a:rPr>
              <a:t>School of Computer Science &amp; Applications</a:t>
            </a:r>
          </a:p>
          <a:p>
            <a:pPr lvl="0" algn="ctr" eaLnBrk="0" fontAlgn="base" hangingPunct="0">
              <a:spcBef>
                <a:spcPct val="0"/>
              </a:spcBef>
              <a:spcAft>
                <a:spcPct val="0"/>
              </a:spcAft>
            </a:pPr>
            <a:r>
              <a:rPr lang="en-US" sz="2800" b="1" dirty="0">
                <a:solidFill>
                  <a:srgbClr val="0033CC"/>
                </a:solidFill>
                <a:latin typeface="Cambria" pitchFamily="18" charset="0"/>
                <a:ea typeface="Droid Sans Fallback"/>
                <a:cs typeface="Times New Roman" pitchFamily="18" charset="0"/>
              </a:rPr>
              <a:t> IFTM University, Moradabad </a:t>
            </a:r>
          </a:p>
        </p:txBody>
      </p:sp>
      <p:sp>
        <p:nvSpPr>
          <p:cNvPr id="8" name="Rectangle 7"/>
          <p:cNvSpPr/>
          <p:nvPr/>
        </p:nvSpPr>
        <p:spPr>
          <a:xfrm>
            <a:off x="2075127" y="1981784"/>
            <a:ext cx="8041741" cy="707886"/>
          </a:xfrm>
          <a:prstGeom prst="rect">
            <a:avLst/>
          </a:prstGeom>
        </p:spPr>
        <p:txBody>
          <a:bodyPr wrap="square">
            <a:spAutoFit/>
          </a:bodyPr>
          <a:lstStyle/>
          <a:p>
            <a:pPr lvl="0" algn="ctr" eaLnBrk="0" fontAlgn="base" hangingPunct="0">
              <a:spcBef>
                <a:spcPct val="0"/>
              </a:spcBef>
              <a:spcAft>
                <a:spcPct val="0"/>
              </a:spcAft>
            </a:pPr>
            <a:r>
              <a:rPr lang="en-US" sz="2000" b="1" dirty="0">
                <a:latin typeface="Cambria" pitchFamily="18" charset="0"/>
                <a:ea typeface="Droid Sans Fallback"/>
                <a:cs typeface="Times New Roman" pitchFamily="18" charset="0"/>
              </a:rPr>
              <a:t>For the degree of</a:t>
            </a:r>
          </a:p>
          <a:p>
            <a:pPr lvl="0" algn="ctr" eaLnBrk="0" fontAlgn="base" hangingPunct="0">
              <a:spcBef>
                <a:spcPct val="0"/>
              </a:spcBef>
              <a:spcAft>
                <a:spcPct val="0"/>
              </a:spcAft>
            </a:pPr>
            <a:r>
              <a:rPr lang="en-US" sz="2000" b="1" dirty="0">
                <a:latin typeface="Cambria" pitchFamily="18" charset="0"/>
                <a:ea typeface="Droid Sans Fallback"/>
                <a:cs typeface="Times New Roman" pitchFamily="18" charset="0"/>
              </a:rPr>
              <a:t>Doctor of Philosophy</a:t>
            </a:r>
            <a:endParaRPr lang="en-US" sz="2000" b="1" dirty="0">
              <a:latin typeface="Cambria" pitchFamily="18" charset="0"/>
              <a:cs typeface="Arial" pitchFamily="34" charset="0"/>
            </a:endParaRPr>
          </a:p>
        </p:txBody>
      </p:sp>
      <p:sp>
        <p:nvSpPr>
          <p:cNvPr id="6" name="Rectangle 5"/>
          <p:cNvSpPr/>
          <p:nvPr/>
        </p:nvSpPr>
        <p:spPr>
          <a:xfrm>
            <a:off x="1782679" y="3084704"/>
            <a:ext cx="2743199" cy="1600438"/>
          </a:xfrm>
          <a:prstGeom prst="rect">
            <a:avLst/>
          </a:prstGeom>
        </p:spPr>
        <p:txBody>
          <a:bodyPr wrap="square">
            <a:spAutoFit/>
          </a:bodyPr>
          <a:lstStyle/>
          <a:p>
            <a:pPr lvl="0" algn="ctr" eaLnBrk="0" fontAlgn="base" hangingPunct="0">
              <a:spcBef>
                <a:spcPct val="0"/>
              </a:spcBef>
              <a:spcAft>
                <a:spcPct val="0"/>
              </a:spcAft>
            </a:pPr>
            <a:r>
              <a:rPr lang="en-US" sz="2000" b="1" u="sng" dirty="0">
                <a:solidFill>
                  <a:srgbClr val="0033CC"/>
                </a:solidFill>
                <a:latin typeface="Cambria" pitchFamily="18" charset="0"/>
                <a:ea typeface="Droid Sans Fallback"/>
                <a:cs typeface="Times New Roman" pitchFamily="18" charset="0"/>
              </a:rPr>
              <a:t>Presented By:</a:t>
            </a:r>
          </a:p>
          <a:p>
            <a:pPr lvl="0" algn="ctr" eaLnBrk="0" fontAlgn="base" hangingPunct="0">
              <a:spcBef>
                <a:spcPct val="0"/>
              </a:spcBef>
              <a:spcAft>
                <a:spcPct val="0"/>
              </a:spcAft>
            </a:pPr>
            <a:endParaRPr lang="en-US" sz="2000" b="1" dirty="0">
              <a:solidFill>
                <a:srgbClr val="0033CC"/>
              </a:solidFill>
              <a:latin typeface="Cambria" pitchFamily="18" charset="0"/>
              <a:cs typeface="Arial" pitchFamily="34" charset="0"/>
            </a:endParaRPr>
          </a:p>
          <a:p>
            <a:pPr lvl="0" algn="ctr" eaLnBrk="0" fontAlgn="base" hangingPunct="0">
              <a:spcBef>
                <a:spcPct val="0"/>
              </a:spcBef>
              <a:spcAft>
                <a:spcPct val="0"/>
              </a:spcAft>
            </a:pPr>
            <a:r>
              <a:rPr lang="en-US" sz="2000" b="1" dirty="0">
                <a:solidFill>
                  <a:srgbClr val="0033CC"/>
                </a:solidFill>
                <a:latin typeface="Cambria" pitchFamily="18" charset="0"/>
                <a:ea typeface="Droid Sans Fallback"/>
                <a:cs typeface="Times New Roman" pitchFamily="18" charset="0"/>
              </a:rPr>
              <a:t>Sandeep Kumar</a:t>
            </a:r>
          </a:p>
          <a:p>
            <a:pPr algn="ctr"/>
            <a:r>
              <a:rPr lang="en-US" sz="1800" b="0" i="0" u="none" strike="noStrike" baseline="0" dirty="0">
                <a:solidFill>
                  <a:srgbClr val="000000"/>
                </a:solidFill>
                <a:latin typeface="Times New Roman" panose="02020603050405020304" pitchFamily="18" charset="0"/>
              </a:rPr>
              <a:t> </a:t>
            </a:r>
            <a:r>
              <a:rPr lang="en-US" sz="1600" b="1" dirty="0">
                <a:solidFill>
                  <a:srgbClr val="0033CC"/>
                </a:solidFill>
                <a:latin typeface="Cambria" pitchFamily="18" charset="0"/>
                <a:cs typeface="Times New Roman" pitchFamily="18" charset="0"/>
              </a:rPr>
              <a:t>(Roll No. 19103001)</a:t>
            </a:r>
          </a:p>
          <a:p>
            <a:pPr algn="ctr"/>
            <a:endParaRPr lang="en-US" sz="2000" b="1" dirty="0">
              <a:solidFill>
                <a:srgbClr val="0033CC"/>
              </a:solidFill>
              <a:latin typeface="Cambria" pitchFamily="18" charset="0"/>
              <a:cs typeface="Times New Roman" pitchFamily="18" charset="0"/>
            </a:endParaRPr>
          </a:p>
        </p:txBody>
      </p:sp>
      <p:sp>
        <p:nvSpPr>
          <p:cNvPr id="9" name="Title 8">
            <a:extLst>
              <a:ext uri="{FF2B5EF4-FFF2-40B4-BE49-F238E27FC236}">
                <a16:creationId xmlns:a16="http://schemas.microsoft.com/office/drawing/2014/main" id="{3B523605-32A1-4AEA-A150-EFDD849D0314}"/>
              </a:ext>
            </a:extLst>
          </p:cNvPr>
          <p:cNvSpPr>
            <a:spLocks noGrp="1"/>
          </p:cNvSpPr>
          <p:nvPr>
            <p:ph type="ctrTitle"/>
          </p:nvPr>
        </p:nvSpPr>
        <p:spPr>
          <a:xfrm>
            <a:off x="340468" y="926752"/>
            <a:ext cx="11663464" cy="954108"/>
          </a:xfrm>
        </p:spPr>
        <p:txBody>
          <a:bodyPr>
            <a:noAutofit/>
          </a:bodyPr>
          <a:lstStyle/>
          <a:p>
            <a:pPr algn="ctr"/>
            <a:br>
              <a:rPr lang="en-US" sz="3200" b="1" dirty="0">
                <a:solidFill>
                  <a:srgbClr val="0070C0"/>
                </a:solidFill>
                <a:effectLst>
                  <a:outerShdw blurRad="38100" dist="38100" dir="2700000" algn="tl">
                    <a:srgbClr val="000000">
                      <a:alpha val="43137"/>
                    </a:srgbClr>
                  </a:outerShdw>
                </a:effectLst>
                <a:latin typeface="Calibri" panose="020F0502020204030204" pitchFamily="34" charset="0"/>
              </a:rPr>
            </a:br>
            <a:r>
              <a:rPr lang="en-US" sz="3200" dirty="0">
                <a:solidFill>
                  <a:schemeClr val="tx1"/>
                </a:solidFill>
                <a:latin typeface="Calibri" panose="020F0502020204030204" pitchFamily="34" charset="0"/>
              </a:rPr>
              <a:t> </a:t>
            </a:r>
            <a:br>
              <a:rPr lang="en-US" sz="3200" dirty="0">
                <a:solidFill>
                  <a:schemeClr val="tx1"/>
                </a:solidFill>
                <a:latin typeface="Calibri" panose="020F0502020204030204" pitchFamily="34" charset="0"/>
              </a:rPr>
            </a:br>
            <a:r>
              <a:rPr lang="en-US" sz="2800" dirty="0">
                <a:solidFill>
                  <a:schemeClr val="tx1"/>
                </a:solidFill>
                <a:latin typeface="Calibri" panose="020F0502020204030204" pitchFamily="34" charset="0"/>
              </a:rPr>
              <a:t>Pre- PhD Thesis Presentation </a:t>
            </a:r>
            <a:br>
              <a:rPr lang="en-US" sz="2800" dirty="0">
                <a:solidFill>
                  <a:schemeClr val="tx1"/>
                </a:solidFill>
                <a:latin typeface="Calibri" panose="020F0502020204030204" pitchFamily="34" charset="0"/>
              </a:rPr>
            </a:br>
            <a:r>
              <a:rPr lang="en-US" sz="2800" dirty="0">
                <a:solidFill>
                  <a:schemeClr val="tx1"/>
                </a:solidFill>
                <a:latin typeface="Calibri" panose="020F0502020204030204" pitchFamily="34" charset="0"/>
              </a:rPr>
              <a:t>on </a:t>
            </a:r>
            <a:br>
              <a:rPr lang="en-US" sz="3200" dirty="0">
                <a:solidFill>
                  <a:schemeClr val="tx1"/>
                </a:solidFill>
                <a:latin typeface="Calibri" panose="020F0502020204030204" pitchFamily="34" charset="0"/>
              </a:rPr>
            </a:br>
            <a:r>
              <a:rPr lang="en-US" sz="3200" b="1" dirty="0">
                <a:solidFill>
                  <a:srgbClr val="0070C0"/>
                </a:solidFill>
                <a:effectLst>
                  <a:outerShdw blurRad="38100" dist="38100" dir="2700000" algn="tl">
                    <a:srgbClr val="000000">
                      <a:alpha val="43137"/>
                    </a:srgbClr>
                  </a:outerShdw>
                </a:effectLst>
                <a:latin typeface="Calibri" panose="020F0502020204030204" pitchFamily="34" charset="0"/>
              </a:rPr>
              <a:t>An Alternative Approach to Redefine Apriori Algorithm by Reducing the Time Complexity Using Textual Data</a:t>
            </a:r>
          </a:p>
        </p:txBody>
      </p:sp>
      <p:sp>
        <p:nvSpPr>
          <p:cNvPr id="10" name="Rectangle 9">
            <a:extLst>
              <a:ext uri="{FF2B5EF4-FFF2-40B4-BE49-F238E27FC236}">
                <a16:creationId xmlns:a16="http://schemas.microsoft.com/office/drawing/2014/main" id="{D42FCB1B-9B1A-4192-A058-29936C2C6541}"/>
              </a:ext>
            </a:extLst>
          </p:cNvPr>
          <p:cNvSpPr/>
          <p:nvPr/>
        </p:nvSpPr>
        <p:spPr>
          <a:xfrm>
            <a:off x="6630986" y="3081954"/>
            <a:ext cx="5029202" cy="1938992"/>
          </a:xfrm>
          <a:prstGeom prst="rect">
            <a:avLst/>
          </a:prstGeom>
        </p:spPr>
        <p:txBody>
          <a:bodyPr wrap="square">
            <a:spAutoFit/>
          </a:bodyPr>
          <a:lstStyle/>
          <a:p>
            <a:pPr lvl="0" algn="ctr" eaLnBrk="0" fontAlgn="base" hangingPunct="0">
              <a:spcBef>
                <a:spcPct val="0"/>
              </a:spcBef>
              <a:spcAft>
                <a:spcPct val="0"/>
              </a:spcAft>
            </a:pPr>
            <a:r>
              <a:rPr lang="en-US" sz="2000" b="1" u="sng" dirty="0">
                <a:solidFill>
                  <a:srgbClr val="0033CC"/>
                </a:solidFill>
                <a:latin typeface="Cambria" pitchFamily="18" charset="0"/>
                <a:ea typeface="Droid Sans Fallback"/>
                <a:cs typeface="Times New Roman" pitchFamily="18" charset="0"/>
              </a:rPr>
              <a:t>Supervised By:</a:t>
            </a:r>
          </a:p>
          <a:p>
            <a:pPr lvl="0" algn="ctr" eaLnBrk="0" fontAlgn="base" hangingPunct="0">
              <a:spcBef>
                <a:spcPct val="0"/>
              </a:spcBef>
              <a:spcAft>
                <a:spcPct val="0"/>
              </a:spcAft>
            </a:pPr>
            <a:endParaRPr lang="en-US" sz="2000" b="1" dirty="0">
              <a:solidFill>
                <a:srgbClr val="0033CC"/>
              </a:solidFill>
              <a:latin typeface="Cambria" pitchFamily="18" charset="0"/>
              <a:ea typeface="Droid Sans Fallback"/>
              <a:cs typeface="Times New Roman" pitchFamily="18" charset="0"/>
            </a:endParaRPr>
          </a:p>
          <a:p>
            <a:pPr lvl="0" algn="ctr" eaLnBrk="0" fontAlgn="base" hangingPunct="0">
              <a:spcBef>
                <a:spcPct val="0"/>
              </a:spcBef>
              <a:spcAft>
                <a:spcPct val="0"/>
              </a:spcAft>
            </a:pPr>
            <a:r>
              <a:rPr lang="en-US" sz="2000" b="1" dirty="0">
                <a:solidFill>
                  <a:srgbClr val="0033CC"/>
                </a:solidFill>
                <a:latin typeface="Cambria" pitchFamily="18" charset="0"/>
                <a:ea typeface="Droid Sans Fallback"/>
                <a:cs typeface="Times New Roman" pitchFamily="18" charset="0"/>
              </a:rPr>
              <a:t>Prof. (Dr.) Rahul Kumar Misha </a:t>
            </a:r>
          </a:p>
          <a:p>
            <a:pPr lvl="0" algn="ctr" eaLnBrk="0" fontAlgn="base" hangingPunct="0">
              <a:spcBef>
                <a:spcPct val="0"/>
              </a:spcBef>
              <a:spcAft>
                <a:spcPct val="0"/>
              </a:spcAft>
            </a:pPr>
            <a:r>
              <a:rPr lang="en-US" sz="2000" b="1" dirty="0">
                <a:solidFill>
                  <a:srgbClr val="0033CC"/>
                </a:solidFill>
                <a:latin typeface="Cambria" pitchFamily="18" charset="0"/>
                <a:ea typeface="Droid Sans Fallback"/>
                <a:cs typeface="Times New Roman" pitchFamily="18" charset="0"/>
              </a:rPr>
              <a:t> Professor</a:t>
            </a:r>
          </a:p>
          <a:p>
            <a:pPr lvl="0" algn="ctr" eaLnBrk="0" fontAlgn="base" hangingPunct="0">
              <a:spcBef>
                <a:spcPct val="0"/>
              </a:spcBef>
              <a:spcAft>
                <a:spcPct val="0"/>
              </a:spcAft>
            </a:pPr>
            <a:r>
              <a:rPr lang="en-US" sz="2000" b="1" dirty="0">
                <a:solidFill>
                  <a:srgbClr val="0033CC"/>
                </a:solidFill>
                <a:latin typeface="Cambria" pitchFamily="18" charset="0"/>
                <a:ea typeface="Droid Sans Fallback"/>
                <a:cs typeface="Times New Roman" pitchFamily="18" charset="0"/>
              </a:rPr>
              <a:t> School of Computer Science &amp; Applications</a:t>
            </a:r>
            <a:endParaRPr lang="en-US" sz="2000" b="1" dirty="0">
              <a:solidFill>
                <a:srgbClr val="0033CC"/>
              </a:solidFill>
              <a:latin typeface="Cambria" pitchFamily="18" charset="0"/>
              <a:cs typeface="Times New Roman" pitchFamily="18" charset="0"/>
            </a:endParaRPr>
          </a:p>
        </p:txBody>
      </p:sp>
      <p:sp>
        <p:nvSpPr>
          <p:cNvPr id="7" name="TextBox 6">
            <a:extLst>
              <a:ext uri="{FF2B5EF4-FFF2-40B4-BE49-F238E27FC236}">
                <a16:creationId xmlns:a16="http://schemas.microsoft.com/office/drawing/2014/main" id="{DD7E4EA8-E5A9-3823-7126-97315BED22ED}"/>
              </a:ext>
            </a:extLst>
          </p:cNvPr>
          <p:cNvSpPr txBox="1"/>
          <p:nvPr/>
        </p:nvSpPr>
        <p:spPr>
          <a:xfrm>
            <a:off x="5181596" y="2816700"/>
            <a:ext cx="1828799" cy="830997"/>
          </a:xfrm>
          <a:prstGeom prst="rect">
            <a:avLst/>
          </a:prstGeom>
          <a:noFill/>
        </p:spPr>
        <p:txBody>
          <a:bodyPr wrap="square">
            <a:spAutoFit/>
          </a:bodyPr>
          <a:lstStyle/>
          <a:p>
            <a:pPr algn="ctr"/>
            <a:r>
              <a:rPr lang="en-US" sz="2400" b="1" u="sng" dirty="0">
                <a:solidFill>
                  <a:srgbClr val="A50021"/>
                </a:solidFill>
                <a:latin typeface="Times New Roman" panose="02020603050405020304" pitchFamily="18" charset="0"/>
                <a:cs typeface="Times New Roman" panose="02020603050405020304" pitchFamily="18" charset="0"/>
              </a:rPr>
              <a:t>Date</a:t>
            </a:r>
            <a:r>
              <a:rPr lang="en-US" sz="2400" b="1" dirty="0">
                <a:solidFill>
                  <a:srgbClr val="A50021"/>
                </a:solidFill>
                <a:latin typeface="Times New Roman" panose="02020603050405020304" pitchFamily="18" charset="0"/>
                <a:cs typeface="Times New Roman" panose="02020603050405020304" pitchFamily="18" charset="0"/>
              </a:rPr>
              <a:t> 10/06/2025</a:t>
            </a:r>
            <a:endParaRPr lang="en-US" b="1" dirty="0">
              <a:solidFill>
                <a:srgbClr val="A50021"/>
              </a:solidFill>
              <a:latin typeface="Times New Roman" panose="02020603050405020304" pitchFamily="18" charset="0"/>
              <a:cs typeface="Times New Roman" panose="02020603050405020304" pitchFamily="18" charset="0"/>
            </a:endParaRPr>
          </a:p>
        </p:txBody>
      </p:sp>
      <p:pic>
        <p:nvPicPr>
          <p:cNvPr id="1026" name="Picture 2" descr="IFTMU – A place for excellence in education at Moradabad">
            <a:extLst>
              <a:ext uri="{FF2B5EF4-FFF2-40B4-BE49-F238E27FC236}">
                <a16:creationId xmlns:a16="http://schemas.microsoft.com/office/drawing/2014/main" id="{35712894-FB15-2F3D-7EDF-6557D93D2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0" y="3748259"/>
            <a:ext cx="2038350" cy="202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365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712B0-9A7F-4E5A-A3BF-5F09B739CD71}"/>
              </a:ext>
            </a:extLst>
          </p:cNvPr>
          <p:cNvSpPr>
            <a:spLocks noGrp="1"/>
          </p:cNvSpPr>
          <p:nvPr>
            <p:ph type="title"/>
          </p:nvPr>
        </p:nvSpPr>
        <p:spPr>
          <a:xfrm>
            <a:off x="1999368" y="0"/>
            <a:ext cx="8911687" cy="595090"/>
          </a:xfrm>
        </p:spPr>
        <p:txBody>
          <a:bodyPr>
            <a:normAutofit fontScale="90000"/>
          </a:bodyPr>
          <a:lstStyle/>
          <a:p>
            <a:r>
              <a:rPr lang="en-US" b="1" dirty="0">
                <a:latin typeface="Times New Roman" panose="02020603050405020304" pitchFamily="18" charset="0"/>
                <a:cs typeface="Times New Roman" panose="02020603050405020304" pitchFamily="18" charset="0"/>
              </a:rPr>
              <a:t>Table of Content:</a:t>
            </a:r>
          </a:p>
        </p:txBody>
      </p:sp>
      <p:sp>
        <p:nvSpPr>
          <p:cNvPr id="3" name="Content Placeholder 2">
            <a:extLst>
              <a:ext uri="{FF2B5EF4-FFF2-40B4-BE49-F238E27FC236}">
                <a16:creationId xmlns:a16="http://schemas.microsoft.com/office/drawing/2014/main" id="{DC5EAF5C-43A4-4563-8EAF-4894867BEEE0}"/>
              </a:ext>
            </a:extLst>
          </p:cNvPr>
          <p:cNvSpPr>
            <a:spLocks noGrp="1"/>
          </p:cNvSpPr>
          <p:nvPr>
            <p:ph idx="1"/>
          </p:nvPr>
        </p:nvSpPr>
        <p:spPr>
          <a:xfrm>
            <a:off x="1562415" y="539709"/>
            <a:ext cx="5556464" cy="3777622"/>
          </a:xfrm>
        </p:spPr>
        <p:txBody>
          <a:bodyPr>
            <a:noAutofit/>
          </a:bodyPr>
          <a:lstStyle/>
          <a:p>
            <a:r>
              <a:rPr lang="en-US" dirty="0">
                <a:latin typeface="Times New Roman" panose="02020603050405020304" pitchFamily="18" charset="0"/>
                <a:cs typeface="Times New Roman" panose="02020603050405020304" pitchFamily="18" charset="0"/>
              </a:rPr>
              <a:t>1. Introduction of Data Mining</a:t>
            </a:r>
          </a:p>
          <a:p>
            <a:r>
              <a:rPr lang="en-US" dirty="0">
                <a:latin typeface="Times New Roman" panose="02020603050405020304" pitchFamily="18" charset="0"/>
                <a:cs typeface="Times New Roman" panose="02020603050405020304" pitchFamily="18" charset="0"/>
              </a:rPr>
              <a:t>2. Data Mining Process</a:t>
            </a:r>
          </a:p>
          <a:p>
            <a:r>
              <a:rPr lang="en-US" dirty="0">
                <a:latin typeface="Times New Roman" panose="02020603050405020304" pitchFamily="18" charset="0"/>
                <a:cs typeface="Times New Roman" panose="02020603050405020304" pitchFamily="18" charset="0"/>
              </a:rPr>
              <a:t>3. Data Mining Techniques</a:t>
            </a:r>
          </a:p>
          <a:p>
            <a:pPr marL="1652588"/>
            <a:r>
              <a:rPr lang="en-US" dirty="0">
                <a:latin typeface="Times New Roman" panose="02020603050405020304" pitchFamily="18" charset="0"/>
                <a:cs typeface="Times New Roman" panose="02020603050405020304" pitchFamily="18" charset="0"/>
              </a:rPr>
              <a:t>3.1. Classification</a:t>
            </a:r>
          </a:p>
          <a:p>
            <a:pPr marL="1652588"/>
            <a:r>
              <a:rPr lang="en-US" dirty="0">
                <a:latin typeface="Times New Roman" panose="02020603050405020304" pitchFamily="18" charset="0"/>
                <a:cs typeface="Times New Roman" panose="02020603050405020304" pitchFamily="18" charset="0"/>
              </a:rPr>
              <a:t>3.2. Associations Rules Mining (ARM)</a:t>
            </a:r>
          </a:p>
          <a:p>
            <a:r>
              <a:rPr lang="en-US" dirty="0">
                <a:latin typeface="Times New Roman" panose="02020603050405020304" pitchFamily="18" charset="0"/>
                <a:cs typeface="Times New Roman" panose="02020603050405020304" pitchFamily="18" charset="0"/>
              </a:rPr>
              <a:t>4. Introduction of Apriori Algorithm</a:t>
            </a:r>
          </a:p>
          <a:p>
            <a:pPr marL="1652588"/>
            <a:r>
              <a:rPr lang="en-US" dirty="0">
                <a:latin typeface="Times New Roman" panose="02020603050405020304" pitchFamily="18" charset="0"/>
                <a:cs typeface="Times New Roman" panose="02020603050405020304" pitchFamily="18" charset="0"/>
              </a:rPr>
              <a:t>4.1. Market Basket Analysis</a:t>
            </a:r>
          </a:p>
          <a:p>
            <a:pPr marL="1652588"/>
            <a:r>
              <a:rPr lang="en-US" dirty="0">
                <a:latin typeface="Times New Roman" panose="02020603050405020304" pitchFamily="18" charset="0"/>
                <a:cs typeface="Times New Roman" panose="02020603050405020304" pitchFamily="18" charset="0"/>
              </a:rPr>
              <a:t>4.2. Apriori Algorithm &amp; Flow Chart</a:t>
            </a:r>
          </a:p>
          <a:p>
            <a:pPr marL="1652588"/>
            <a:r>
              <a:rPr lang="en-US" dirty="0">
                <a:latin typeface="Times New Roman" panose="02020603050405020304" pitchFamily="18" charset="0"/>
                <a:cs typeface="Times New Roman" panose="02020603050405020304" pitchFamily="18" charset="0"/>
              </a:rPr>
              <a:t>4.3. Apriori Example</a:t>
            </a:r>
          </a:p>
          <a:p>
            <a:pPr marL="1652588"/>
            <a:r>
              <a:rPr lang="en-US" dirty="0">
                <a:latin typeface="Times New Roman" panose="02020603050405020304" pitchFamily="18" charset="0"/>
                <a:cs typeface="Times New Roman" panose="02020603050405020304" pitchFamily="18" charset="0"/>
              </a:rPr>
              <a:t>4.4. Limitations of Apriori </a:t>
            </a:r>
          </a:p>
          <a:p>
            <a:r>
              <a:rPr lang="en-US" dirty="0">
                <a:latin typeface="Times New Roman" panose="02020603050405020304" pitchFamily="18" charset="0"/>
                <a:cs typeface="Times New Roman" panose="02020603050405020304" pitchFamily="18" charset="0"/>
              </a:rPr>
              <a:t>5. Classification and Comparison Literature Review </a:t>
            </a:r>
          </a:p>
          <a:p>
            <a:r>
              <a:rPr lang="en-US" dirty="0">
                <a:latin typeface="Times New Roman" panose="02020603050405020304" pitchFamily="18" charset="0"/>
                <a:cs typeface="Times New Roman" panose="02020603050405020304" pitchFamily="18" charset="0"/>
              </a:rPr>
              <a:t>6. Comparison for Research Gap </a:t>
            </a:r>
          </a:p>
          <a:p>
            <a:r>
              <a:rPr lang="en-US" dirty="0">
                <a:latin typeface="Times New Roman" panose="02020603050405020304" pitchFamily="18" charset="0"/>
                <a:cs typeface="Times New Roman" panose="02020603050405020304" pitchFamily="18" charset="0"/>
              </a:rPr>
              <a:t>7. Objectives of Proposed Work</a:t>
            </a:r>
          </a:p>
          <a:p>
            <a:r>
              <a:rPr lang="en-US" dirty="0">
                <a:latin typeface="Times New Roman" panose="02020603050405020304" pitchFamily="18" charset="0"/>
                <a:cs typeface="Times New Roman" panose="02020603050405020304" pitchFamily="18" charset="0"/>
              </a:rPr>
              <a:t>8. Research Gap</a:t>
            </a:r>
          </a:p>
          <a:p>
            <a:r>
              <a:rPr lang="en-US" dirty="0">
                <a:latin typeface="Times New Roman" panose="02020603050405020304" pitchFamily="18" charset="0"/>
                <a:cs typeface="Times New Roman" panose="02020603050405020304" pitchFamily="18" charset="0"/>
              </a:rPr>
              <a:t>9. Specific Objectives </a:t>
            </a:r>
          </a:p>
          <a:p>
            <a:r>
              <a:rPr lang="en-US" dirty="0">
                <a:latin typeface="Times New Roman" panose="02020603050405020304" pitchFamily="18" charset="0"/>
                <a:cs typeface="Times New Roman" panose="02020603050405020304" pitchFamily="18" charset="0"/>
              </a:rPr>
              <a:t>10. Research Methodology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AA1F54F9-AE78-F148-A579-C127012A0DB2}"/>
              </a:ext>
            </a:extLst>
          </p:cNvPr>
          <p:cNvSpPr txBox="1">
            <a:spLocks/>
          </p:cNvSpPr>
          <p:nvPr/>
        </p:nvSpPr>
        <p:spPr>
          <a:xfrm>
            <a:off x="7851353" y="533986"/>
            <a:ext cx="5556464" cy="377762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11. Proposed Work </a:t>
            </a:r>
          </a:p>
          <a:p>
            <a:r>
              <a:rPr lang="en-US" dirty="0">
                <a:latin typeface="Times New Roman" panose="02020603050405020304" pitchFamily="18" charset="0"/>
                <a:cs typeface="Times New Roman" panose="02020603050405020304" pitchFamily="18" charset="0"/>
              </a:rPr>
              <a:t>12. Experimental work</a:t>
            </a:r>
          </a:p>
          <a:p>
            <a:r>
              <a:rPr lang="en-US" dirty="0">
                <a:latin typeface="Times New Roman" panose="02020603050405020304" pitchFamily="18" charset="0"/>
                <a:cs typeface="Times New Roman" panose="02020603050405020304" pitchFamily="18" charset="0"/>
              </a:rPr>
              <a:t>13. Result Analysis</a:t>
            </a:r>
          </a:p>
          <a:p>
            <a:r>
              <a:rPr lang="en-US" dirty="0">
                <a:latin typeface="Times New Roman" panose="02020603050405020304" pitchFamily="18" charset="0"/>
                <a:cs typeface="Times New Roman" panose="02020603050405020304" pitchFamily="18" charset="0"/>
              </a:rPr>
              <a:t>14. Conclusion</a:t>
            </a:r>
          </a:p>
          <a:p>
            <a:r>
              <a:rPr lang="en-US" dirty="0">
                <a:latin typeface="Times New Roman" panose="02020603050405020304" pitchFamily="18" charset="0"/>
                <a:cs typeface="Times New Roman" panose="02020603050405020304" pitchFamily="18" charset="0"/>
              </a:rPr>
              <a:t>15. Research Publication &amp; Conferences </a:t>
            </a: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721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1. Introduction of Data Mining</a:t>
            </a:r>
          </a:p>
        </p:txBody>
      </p:sp>
      <p:sp>
        <p:nvSpPr>
          <p:cNvPr id="3" name="Content Placeholder 2"/>
          <p:cNvSpPr>
            <a:spLocks noGrp="1"/>
          </p:cNvSpPr>
          <p:nvPr>
            <p:ph idx="1"/>
          </p:nvPr>
        </p:nvSpPr>
        <p:spPr>
          <a:xfrm>
            <a:off x="1385455" y="1905000"/>
            <a:ext cx="6068290" cy="4592782"/>
          </a:xfrm>
        </p:spPr>
        <p:txBody>
          <a:bodyPr>
            <a:normAutofit fontScale="92500" lnSpcReduction="20000"/>
          </a:bodyPr>
          <a:lstStyle/>
          <a:p>
            <a:pPr marL="747713" indent="-747713" algn="just"/>
            <a:r>
              <a:rPr lang="en-IN" sz="3200" dirty="0">
                <a:latin typeface="Times New Roman" panose="02020603050405020304" pitchFamily="18" charset="0"/>
                <a:cs typeface="Times New Roman" panose="02020603050405020304" pitchFamily="18" charset="0"/>
              </a:rPr>
              <a:t>Discover Knowledge from large amount of data.</a:t>
            </a:r>
          </a:p>
          <a:p>
            <a:pPr marL="0" indent="0" algn="just">
              <a:buNone/>
            </a:pPr>
            <a:endParaRPr lang="en-IN" sz="3200" dirty="0">
              <a:latin typeface="Times New Roman" panose="02020603050405020304" pitchFamily="18" charset="0"/>
              <a:cs typeface="Times New Roman" panose="02020603050405020304" pitchFamily="18" charset="0"/>
            </a:endParaRPr>
          </a:p>
          <a:p>
            <a:pPr marL="747713" indent="-747713" algn="just"/>
            <a:r>
              <a:rPr lang="en-IN" sz="3200" dirty="0">
                <a:latin typeface="Times New Roman" panose="02020603050405020304" pitchFamily="18" charset="0"/>
                <a:cs typeface="Times New Roman" panose="02020603050405020304" pitchFamily="18" charset="0"/>
              </a:rPr>
              <a:t>Discover interesting patterns.</a:t>
            </a:r>
          </a:p>
          <a:p>
            <a:pPr marL="0" indent="0" algn="just">
              <a:buNone/>
            </a:pPr>
            <a:endParaRPr lang="en-IN" sz="3200" dirty="0">
              <a:latin typeface="Times New Roman" panose="02020603050405020304" pitchFamily="18" charset="0"/>
              <a:cs typeface="Times New Roman" panose="02020603050405020304" pitchFamily="18" charset="0"/>
            </a:endParaRPr>
          </a:p>
          <a:p>
            <a:pPr marL="747713" indent="-747713" algn="just"/>
            <a:r>
              <a:rPr lang="en-IN" sz="3200" dirty="0">
                <a:latin typeface="Times New Roman" panose="02020603050405020304" pitchFamily="18" charset="0"/>
                <a:cs typeface="Times New Roman" panose="02020603050405020304" pitchFamily="18" charset="0"/>
              </a:rPr>
              <a:t>Mining of Data</a:t>
            </a:r>
          </a:p>
          <a:p>
            <a:pPr marL="0" indent="0" algn="just">
              <a:buNone/>
            </a:pPr>
            <a:endParaRPr lang="en-IN" sz="3200" dirty="0">
              <a:latin typeface="Times New Roman" panose="02020603050405020304" pitchFamily="18" charset="0"/>
              <a:cs typeface="Times New Roman" panose="02020603050405020304" pitchFamily="18" charset="0"/>
            </a:endParaRPr>
          </a:p>
          <a:p>
            <a:pPr marL="747713" indent="-747713" algn="just"/>
            <a:r>
              <a:rPr lang="en-IN" sz="3200" dirty="0">
                <a:latin typeface="Times New Roman" panose="02020603050405020304" pitchFamily="18" charset="0"/>
                <a:cs typeface="Times New Roman" panose="02020603050405020304" pitchFamily="18" charset="0"/>
              </a:rPr>
              <a:t>Covers techniques like Classification, Clustering, Association Rule Mining etc.</a:t>
            </a:r>
          </a:p>
          <a:p>
            <a:endParaRPr lang="en-IN" sz="3200" dirty="0">
              <a:latin typeface="Times New Roman" panose="02020603050405020304" pitchFamily="18" charset="0"/>
              <a:cs typeface="Times New Roman" panose="02020603050405020304" pitchFamily="18" charset="0"/>
            </a:endParaRPr>
          </a:p>
        </p:txBody>
      </p:sp>
      <p:pic>
        <p:nvPicPr>
          <p:cNvPr id="4" name="Content Placeholder 5">
            <a:extLst>
              <a:ext uri="{FF2B5EF4-FFF2-40B4-BE49-F238E27FC236}">
                <a16:creationId xmlns:a16="http://schemas.microsoft.com/office/drawing/2014/main" id="{DE118590-3CF7-447F-9C6C-3B70B83E3C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6566" y="2085110"/>
            <a:ext cx="4985943" cy="3066770"/>
          </a:xfrm>
          <a:prstGeom prst="rect">
            <a:avLst/>
          </a:prstGeom>
        </p:spPr>
      </p:pic>
    </p:spTree>
    <p:extLst>
      <p:ext uri="{BB962C8B-B14F-4D97-AF65-F5344CB8AC3E}">
        <p14:creationId xmlns:p14="http://schemas.microsoft.com/office/powerpoint/2010/main" val="2226514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E89876DB-EDAE-4878-A41C-FE3E60806FC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75145" y="1251374"/>
            <a:ext cx="6321318" cy="5470268"/>
          </a:xfrm>
          <a:prstGeom prst="rect">
            <a:avLst/>
          </a:prstGeom>
        </p:spPr>
      </p:pic>
      <p:sp>
        <p:nvSpPr>
          <p:cNvPr id="8" name="TextBox 7">
            <a:extLst>
              <a:ext uri="{FF2B5EF4-FFF2-40B4-BE49-F238E27FC236}">
                <a16:creationId xmlns:a16="http://schemas.microsoft.com/office/drawing/2014/main" id="{72B0A8F9-1F5D-4042-B07A-176D6FCD651B}"/>
              </a:ext>
            </a:extLst>
          </p:cNvPr>
          <p:cNvSpPr txBox="1"/>
          <p:nvPr/>
        </p:nvSpPr>
        <p:spPr>
          <a:xfrm>
            <a:off x="2064327" y="605043"/>
            <a:ext cx="6096000" cy="646331"/>
          </a:xfrm>
          <a:prstGeom prst="rect">
            <a:avLst/>
          </a:prstGeom>
          <a:noFill/>
        </p:spPr>
        <p:txBody>
          <a:bodyPr wrap="square">
            <a:spAutoFit/>
          </a:bodyPr>
          <a:lstStyle/>
          <a:p>
            <a:r>
              <a:rPr lang="en-IN" sz="3600" b="1" dirty="0">
                <a:solidFill>
                  <a:schemeClr val="tx1">
                    <a:lumMod val="85000"/>
                    <a:lumOff val="15000"/>
                  </a:schemeClr>
                </a:solidFill>
                <a:latin typeface="Times New Roman" panose="02020603050405020304" pitchFamily="18" charset="0"/>
                <a:ea typeface="+mj-ea"/>
                <a:cs typeface="Times New Roman" panose="02020603050405020304" pitchFamily="18" charset="0"/>
              </a:rPr>
              <a:t>2. Data Mining Process</a:t>
            </a:r>
            <a:endParaRPr lang="en-US" sz="3600" b="1" dirty="0">
              <a:solidFill>
                <a:schemeClr val="tx1">
                  <a:lumMod val="85000"/>
                  <a:lumOff val="15000"/>
                </a:schemeClr>
              </a:solidFill>
              <a:latin typeface="Times New Roman" panose="02020603050405020304" pitchFamily="18" charset="0"/>
              <a:ea typeface="+mj-ea"/>
              <a:cs typeface="Times New Roman" panose="02020603050405020304" pitchFamily="18" charset="0"/>
            </a:endParaRPr>
          </a:p>
        </p:txBody>
      </p:sp>
      <p:sp>
        <p:nvSpPr>
          <p:cNvPr id="4" name="TextBox 3">
            <a:extLst>
              <a:ext uri="{FF2B5EF4-FFF2-40B4-BE49-F238E27FC236}">
                <a16:creationId xmlns:a16="http://schemas.microsoft.com/office/drawing/2014/main" id="{F2382637-D816-9E50-D405-72FA3519F3C8}"/>
              </a:ext>
            </a:extLst>
          </p:cNvPr>
          <p:cNvSpPr txBox="1"/>
          <p:nvPr/>
        </p:nvSpPr>
        <p:spPr>
          <a:xfrm>
            <a:off x="8048032" y="1251374"/>
            <a:ext cx="4627416" cy="4727000"/>
          </a:xfrm>
          <a:prstGeom prst="rect">
            <a:avLst/>
          </a:prstGeom>
          <a:noFill/>
        </p:spPr>
        <p:txBody>
          <a:bodyPr wrap="square">
            <a:spAutoFit/>
          </a:bodyPr>
          <a:lstStyle/>
          <a:p>
            <a:pPr algn="l">
              <a:lnSpc>
                <a:spcPct val="200000"/>
              </a:lnSpc>
            </a:pPr>
            <a:r>
              <a:rPr lang="en-US" sz="2200" b="1" i="0" dirty="0">
                <a:solidFill>
                  <a:srgbClr val="002060"/>
                </a:solidFill>
                <a:effectLst/>
                <a:latin typeface="arial" panose="020B0604020202020204" pitchFamily="34" charset="0"/>
              </a:rPr>
              <a:t>1) Data Cleaning.</a:t>
            </a:r>
          </a:p>
          <a:p>
            <a:pPr algn="l">
              <a:lnSpc>
                <a:spcPct val="200000"/>
              </a:lnSpc>
            </a:pPr>
            <a:r>
              <a:rPr lang="en-US" sz="2200" b="1" i="0" dirty="0">
                <a:solidFill>
                  <a:srgbClr val="002060"/>
                </a:solidFill>
                <a:effectLst/>
                <a:latin typeface="arial" panose="020B0604020202020204" pitchFamily="34" charset="0"/>
              </a:rPr>
              <a:t>2) Data Integration.</a:t>
            </a:r>
          </a:p>
          <a:p>
            <a:pPr algn="l">
              <a:lnSpc>
                <a:spcPct val="200000"/>
              </a:lnSpc>
            </a:pPr>
            <a:r>
              <a:rPr lang="en-US" sz="2200" b="1" i="0" dirty="0">
                <a:solidFill>
                  <a:srgbClr val="002060"/>
                </a:solidFill>
                <a:effectLst/>
                <a:latin typeface="arial" panose="020B0604020202020204" pitchFamily="34" charset="0"/>
              </a:rPr>
              <a:t>3) Data Reduction.</a:t>
            </a:r>
          </a:p>
          <a:p>
            <a:pPr algn="l">
              <a:lnSpc>
                <a:spcPct val="200000"/>
              </a:lnSpc>
            </a:pPr>
            <a:r>
              <a:rPr lang="en-US" sz="2200" b="1" i="0" dirty="0">
                <a:solidFill>
                  <a:srgbClr val="002060"/>
                </a:solidFill>
                <a:effectLst/>
                <a:latin typeface="arial" panose="020B0604020202020204" pitchFamily="34" charset="0"/>
              </a:rPr>
              <a:t>4) Data Transformation.</a:t>
            </a:r>
          </a:p>
          <a:p>
            <a:pPr algn="l">
              <a:lnSpc>
                <a:spcPct val="200000"/>
              </a:lnSpc>
            </a:pPr>
            <a:r>
              <a:rPr lang="en-US" sz="2200" b="1" i="0" dirty="0">
                <a:solidFill>
                  <a:srgbClr val="002060"/>
                </a:solidFill>
                <a:effectLst/>
                <a:latin typeface="arial" panose="020B0604020202020204" pitchFamily="34" charset="0"/>
              </a:rPr>
              <a:t>5) Data Mining.</a:t>
            </a:r>
          </a:p>
          <a:p>
            <a:pPr algn="l">
              <a:lnSpc>
                <a:spcPct val="200000"/>
              </a:lnSpc>
            </a:pPr>
            <a:r>
              <a:rPr lang="en-US" sz="2200" b="1" i="0" dirty="0">
                <a:solidFill>
                  <a:srgbClr val="002060"/>
                </a:solidFill>
                <a:effectLst/>
                <a:latin typeface="arial" panose="020B0604020202020204" pitchFamily="34" charset="0"/>
              </a:rPr>
              <a:t>6) Pattern Evaluation.</a:t>
            </a:r>
          </a:p>
          <a:p>
            <a:pPr algn="l">
              <a:lnSpc>
                <a:spcPct val="200000"/>
              </a:lnSpc>
            </a:pPr>
            <a:r>
              <a:rPr lang="en-US" sz="2200" b="1" i="0" dirty="0">
                <a:solidFill>
                  <a:srgbClr val="002060"/>
                </a:solidFill>
                <a:effectLst/>
                <a:latin typeface="arial" panose="020B0604020202020204" pitchFamily="34" charset="0"/>
              </a:rPr>
              <a:t>7) Knowledge Representation.</a:t>
            </a:r>
          </a:p>
        </p:txBody>
      </p:sp>
      <p:sp>
        <p:nvSpPr>
          <p:cNvPr id="6" name="TextBox 5">
            <a:extLst>
              <a:ext uri="{FF2B5EF4-FFF2-40B4-BE49-F238E27FC236}">
                <a16:creationId xmlns:a16="http://schemas.microsoft.com/office/drawing/2014/main" id="{A11F4259-91C3-B703-E2FB-BFBBBEB9E19F}"/>
              </a:ext>
            </a:extLst>
          </p:cNvPr>
          <p:cNvSpPr txBox="1"/>
          <p:nvPr/>
        </p:nvSpPr>
        <p:spPr>
          <a:xfrm>
            <a:off x="7283116" y="6052902"/>
            <a:ext cx="4908884" cy="400110"/>
          </a:xfrm>
          <a:prstGeom prst="rect">
            <a:avLst/>
          </a:prstGeom>
          <a:noFill/>
        </p:spPr>
        <p:txBody>
          <a:bodyPr wrap="square">
            <a:spAutoFit/>
          </a:bodyPr>
          <a:lstStyle/>
          <a:p>
            <a:r>
              <a:rPr lang="en-US" sz="2000" b="1" dirty="0">
                <a:solidFill>
                  <a:schemeClr val="accent1"/>
                </a:solidFill>
                <a:effectLst>
                  <a:outerShdw blurRad="38100" dist="38100" dir="2700000" algn="tl">
                    <a:srgbClr val="000000">
                      <a:alpha val="43137"/>
                    </a:srgbClr>
                  </a:outerShdw>
                </a:effectLst>
              </a:rPr>
              <a:t>Step-1 to Step-4 : Pre-Processing Steps</a:t>
            </a:r>
          </a:p>
        </p:txBody>
      </p:sp>
    </p:spTree>
    <p:extLst>
      <p:ext uri="{BB962C8B-B14F-4D97-AF65-F5344CB8AC3E}">
        <p14:creationId xmlns:p14="http://schemas.microsoft.com/office/powerpoint/2010/main" val="2490679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1C536-FDE8-45BE-8598-4A53D5520B2C}"/>
              </a:ext>
            </a:extLst>
          </p:cNvPr>
          <p:cNvSpPr>
            <a:spLocks noGrp="1"/>
          </p:cNvSpPr>
          <p:nvPr>
            <p:ph type="title"/>
          </p:nvPr>
        </p:nvSpPr>
        <p:spPr>
          <a:xfrm>
            <a:off x="1872306" y="679528"/>
            <a:ext cx="8911687" cy="705926"/>
          </a:xfrm>
        </p:spPr>
        <p:txBody>
          <a:bodyPr/>
          <a:lstStyle/>
          <a:p>
            <a:r>
              <a:rPr lang="en-US" b="1" dirty="0">
                <a:latin typeface="Times New Roman" panose="02020603050405020304" pitchFamily="18" charset="0"/>
                <a:cs typeface="Times New Roman" panose="02020603050405020304" pitchFamily="18" charset="0"/>
              </a:rPr>
              <a:t>3. Data Mining Techniques</a:t>
            </a:r>
          </a:p>
        </p:txBody>
      </p:sp>
      <p:pic>
        <p:nvPicPr>
          <p:cNvPr id="4" name="Content Placeholder 4">
            <a:extLst>
              <a:ext uri="{FF2B5EF4-FFF2-40B4-BE49-F238E27FC236}">
                <a16:creationId xmlns:a16="http://schemas.microsoft.com/office/drawing/2014/main" id="{456161BB-A2C6-4D63-BFFC-ECB1B19A0D8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42771" y="1600305"/>
            <a:ext cx="4103485" cy="5129357"/>
          </a:xfrm>
        </p:spPr>
      </p:pic>
      <p:sp>
        <p:nvSpPr>
          <p:cNvPr id="5" name="TextBox 4">
            <a:extLst>
              <a:ext uri="{FF2B5EF4-FFF2-40B4-BE49-F238E27FC236}">
                <a16:creationId xmlns:a16="http://schemas.microsoft.com/office/drawing/2014/main" id="{39706E7B-6DD3-DDBD-340F-87B391BF1AC3}"/>
              </a:ext>
            </a:extLst>
          </p:cNvPr>
          <p:cNvSpPr txBox="1"/>
          <p:nvPr/>
        </p:nvSpPr>
        <p:spPr>
          <a:xfrm>
            <a:off x="7988967" y="3554864"/>
            <a:ext cx="3930317" cy="1815882"/>
          </a:xfrm>
          <a:prstGeom prst="rect">
            <a:avLst/>
          </a:prstGeom>
          <a:noFill/>
        </p:spPr>
        <p:txBody>
          <a:bodyPr wrap="square">
            <a:spAutoFit/>
          </a:bodyPr>
          <a:lstStyle/>
          <a:p>
            <a:pPr algn="just"/>
            <a:r>
              <a:rPr lang="en-US" sz="2800" b="1" dirty="0">
                <a:solidFill>
                  <a:srgbClr val="002060"/>
                </a:solidFill>
                <a:latin typeface="Times New Roman" panose="02020603050405020304" pitchFamily="18" charset="0"/>
                <a:cs typeface="Times New Roman" panose="02020603050405020304" pitchFamily="18" charset="0"/>
              </a:rPr>
              <a:t>Our Research work is entirely emphasis on </a:t>
            </a:r>
            <a:r>
              <a:rPr lang="en-US" sz="2800" b="1" dirty="0">
                <a:solidFill>
                  <a:srgbClr val="0070C0"/>
                </a:solidFill>
                <a:latin typeface="Times New Roman" panose="02020603050405020304" pitchFamily="18" charset="0"/>
                <a:cs typeface="Times New Roman" panose="02020603050405020304" pitchFamily="18" charset="0"/>
              </a:rPr>
              <a:t>Classification</a:t>
            </a:r>
            <a:r>
              <a:rPr lang="en-US" sz="2800" b="1" dirty="0">
                <a:solidFill>
                  <a:srgbClr val="002060"/>
                </a:solidFill>
                <a:latin typeface="Times New Roman" panose="02020603050405020304" pitchFamily="18" charset="0"/>
                <a:cs typeface="Times New Roman" panose="02020603050405020304" pitchFamily="18" charset="0"/>
              </a:rPr>
              <a:t> Through </a:t>
            </a:r>
            <a:r>
              <a:rPr lang="en-US" sz="2800" b="1" dirty="0">
                <a:solidFill>
                  <a:srgbClr val="0070C0"/>
                </a:solidFill>
                <a:latin typeface="Times New Roman" panose="02020603050405020304" pitchFamily="18" charset="0"/>
                <a:cs typeface="Times New Roman" panose="02020603050405020304" pitchFamily="18" charset="0"/>
              </a:rPr>
              <a:t>Association Rule Mining</a:t>
            </a:r>
          </a:p>
        </p:txBody>
      </p:sp>
      <p:cxnSp>
        <p:nvCxnSpPr>
          <p:cNvPr id="7" name="Straight Arrow Connector 6">
            <a:extLst>
              <a:ext uri="{FF2B5EF4-FFF2-40B4-BE49-F238E27FC236}">
                <a16:creationId xmlns:a16="http://schemas.microsoft.com/office/drawing/2014/main" id="{1836C5F6-0564-1078-FD31-B9E68A63A668}"/>
              </a:ext>
            </a:extLst>
          </p:cNvPr>
          <p:cNvCxnSpPr/>
          <p:nvPr/>
        </p:nvCxnSpPr>
        <p:spPr>
          <a:xfrm>
            <a:off x="6625389" y="3031958"/>
            <a:ext cx="1636295" cy="39704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8" name="Straight Arrow Connector 7">
            <a:extLst>
              <a:ext uri="{FF2B5EF4-FFF2-40B4-BE49-F238E27FC236}">
                <a16:creationId xmlns:a16="http://schemas.microsoft.com/office/drawing/2014/main" id="{E13F4E48-3BF4-D1F3-66A1-020B9AC1C416}"/>
              </a:ext>
            </a:extLst>
          </p:cNvPr>
          <p:cNvCxnSpPr>
            <a:cxnSpLocks/>
          </p:cNvCxnSpPr>
          <p:nvPr/>
        </p:nvCxnSpPr>
        <p:spPr>
          <a:xfrm flipV="1">
            <a:off x="6625389" y="5466787"/>
            <a:ext cx="1636295" cy="89577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922131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779" y="614596"/>
            <a:ext cx="8911687" cy="664363"/>
          </a:xfrm>
        </p:spPr>
        <p:txBody>
          <a:bodyPr/>
          <a:lstStyle/>
          <a:p>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 Classification</a:t>
            </a:r>
          </a:p>
        </p:txBody>
      </p:sp>
      <p:sp>
        <p:nvSpPr>
          <p:cNvPr id="3" name="Content Placeholder 2"/>
          <p:cNvSpPr>
            <a:spLocks noGrp="1"/>
          </p:cNvSpPr>
          <p:nvPr>
            <p:ph idx="1"/>
          </p:nvPr>
        </p:nvSpPr>
        <p:spPr>
          <a:xfrm>
            <a:off x="2177288" y="1439542"/>
            <a:ext cx="8915400" cy="3978916"/>
          </a:xfrm>
        </p:spPr>
        <p:txBody>
          <a:bodyPr>
            <a:normAutofit/>
          </a:bodyPr>
          <a:lstStyle/>
          <a:p>
            <a:pPr algn="just"/>
            <a:r>
              <a:rPr lang="en-IN" sz="2400" dirty="0">
                <a:latin typeface="Times New Roman" panose="02020603050405020304" pitchFamily="18" charset="0"/>
                <a:cs typeface="Times New Roman" panose="02020603050405020304" pitchFamily="18" charset="0"/>
              </a:rPr>
              <a:t>Works on two phases-</a:t>
            </a:r>
          </a:p>
          <a:p>
            <a:pPr marL="0" indent="0" algn="just">
              <a:buNone/>
            </a:pPr>
            <a:r>
              <a:rPr lang="en-IN" sz="2400" b="1" u="sng" dirty="0">
                <a:solidFill>
                  <a:srgbClr val="0070C0"/>
                </a:solidFill>
                <a:latin typeface="Times New Roman" panose="02020603050405020304" pitchFamily="18" charset="0"/>
                <a:cs typeface="Times New Roman" panose="02020603050405020304" pitchFamily="18" charset="0"/>
              </a:rPr>
              <a:t>PHASE-1</a:t>
            </a:r>
          </a:p>
          <a:p>
            <a:pPr lvl="1" algn="just"/>
            <a:r>
              <a:rPr lang="en-IN" sz="2400" dirty="0">
                <a:latin typeface="Times New Roman" panose="02020603050405020304" pitchFamily="18" charset="0"/>
                <a:cs typeface="Times New Roman" panose="02020603050405020304" pitchFamily="18" charset="0"/>
              </a:rPr>
              <a:t>A</a:t>
            </a:r>
            <a:r>
              <a:rPr lang="en-IN" sz="2400" b="1" dirty="0">
                <a:latin typeface="Times New Roman" panose="02020603050405020304" pitchFamily="18" charset="0"/>
                <a:cs typeface="Times New Roman" panose="02020603050405020304" pitchFamily="18" charset="0"/>
              </a:rPr>
              <a:t>) Learning Phase</a:t>
            </a:r>
          </a:p>
          <a:p>
            <a:pPr lvl="3" algn="just"/>
            <a:r>
              <a:rPr lang="en-IN" sz="24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Supervise Learning</a:t>
            </a:r>
          </a:p>
          <a:p>
            <a:pPr lvl="3" algn="just"/>
            <a:r>
              <a:rPr lang="en-IN" sz="2400" dirty="0">
                <a:latin typeface="Times New Roman" panose="02020603050405020304" pitchFamily="18" charset="0"/>
                <a:cs typeface="Times New Roman" panose="02020603050405020304" pitchFamily="18" charset="0"/>
              </a:rPr>
              <a:t>Unsupervised Learning</a:t>
            </a:r>
          </a:p>
          <a:p>
            <a:pPr marL="0" lvl="3" indent="0" algn="just">
              <a:buNone/>
            </a:pPr>
            <a:r>
              <a:rPr lang="en-IN" sz="2400" b="1" u="sng" dirty="0">
                <a:solidFill>
                  <a:srgbClr val="0070C0"/>
                </a:solidFill>
                <a:latin typeface="Times New Roman" panose="02020603050405020304" pitchFamily="18" charset="0"/>
                <a:cs typeface="Times New Roman" panose="02020603050405020304" pitchFamily="18" charset="0"/>
              </a:rPr>
              <a:t>PHASE-2</a:t>
            </a:r>
          </a:p>
          <a:p>
            <a:pPr lvl="1" algn="just"/>
            <a:r>
              <a:rPr lang="en-IN" sz="2400" dirty="0">
                <a:latin typeface="Times New Roman" panose="02020603050405020304" pitchFamily="18" charset="0"/>
                <a:cs typeface="Times New Roman" panose="02020603050405020304" pitchFamily="18" charset="0"/>
              </a:rPr>
              <a:t>B) </a:t>
            </a:r>
            <a:r>
              <a:rPr lang="en-IN" sz="2400" b="1" dirty="0">
                <a:latin typeface="Times New Roman" panose="02020603050405020304" pitchFamily="18" charset="0"/>
                <a:cs typeface="Times New Roman" panose="02020603050405020304" pitchFamily="18" charset="0"/>
              </a:rPr>
              <a:t>Classification phase</a:t>
            </a:r>
          </a:p>
          <a:p>
            <a:pPr lvl="3" algn="just"/>
            <a:r>
              <a:rPr lang="en-IN" sz="24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Association rules</a:t>
            </a:r>
          </a:p>
        </p:txBody>
      </p:sp>
      <p:sp>
        <p:nvSpPr>
          <p:cNvPr id="5" name="TextBox 4">
            <a:extLst>
              <a:ext uri="{FF2B5EF4-FFF2-40B4-BE49-F238E27FC236}">
                <a16:creationId xmlns:a16="http://schemas.microsoft.com/office/drawing/2014/main" id="{AC3B1E3D-A790-45F3-BE06-D2E1A2D3C053}"/>
              </a:ext>
            </a:extLst>
          </p:cNvPr>
          <p:cNvSpPr txBox="1"/>
          <p:nvPr/>
        </p:nvSpPr>
        <p:spPr>
          <a:xfrm>
            <a:off x="1413164" y="5770345"/>
            <a:ext cx="9679524" cy="1200329"/>
          </a:xfrm>
          <a:prstGeom prst="rect">
            <a:avLst/>
          </a:prstGeom>
          <a:noFill/>
        </p:spPr>
        <p:txBody>
          <a:bodyPr wrap="square">
            <a:spAutoFit/>
          </a:bodyPr>
          <a:lstStyle/>
          <a:p>
            <a:pPr marL="0" indent="0" algn="ctr">
              <a:buNone/>
            </a:pPr>
            <a:r>
              <a:rPr lang="en-US" sz="2400" b="1" dirty="0">
                <a:latin typeface="Times New Roman" panose="02020603050405020304" pitchFamily="18" charset="0"/>
                <a:cs typeface="Times New Roman" panose="02020603050405020304" pitchFamily="18" charset="0"/>
              </a:rPr>
              <a:t>Good Classification entirely based on Knowledge base created by Association rules.</a:t>
            </a:r>
          </a:p>
          <a:p>
            <a:pPr algn="ct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7504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604FCD-89F0-4419-B750-99E6AEDB45D4}"/>
              </a:ext>
            </a:extLst>
          </p:cNvPr>
          <p:cNvSpPr txBox="1"/>
          <p:nvPr/>
        </p:nvSpPr>
        <p:spPr>
          <a:xfrm>
            <a:off x="1690253" y="785152"/>
            <a:ext cx="9186293" cy="646331"/>
          </a:xfrm>
          <a:prstGeom prst="rect">
            <a:avLst/>
          </a:prstGeom>
          <a:noFill/>
        </p:spPr>
        <p:txBody>
          <a:bodyPr wrap="square">
            <a:spAutoFit/>
          </a:bodyPr>
          <a:lstStyle/>
          <a:p>
            <a:r>
              <a:rPr lang="en-US" sz="3600" b="1" dirty="0">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5. Associations Rules Mining (ARM)</a:t>
            </a:r>
          </a:p>
        </p:txBody>
      </p:sp>
      <p:sp>
        <p:nvSpPr>
          <p:cNvPr id="13" name="Content Placeholder 2">
            <a:extLst>
              <a:ext uri="{FF2B5EF4-FFF2-40B4-BE49-F238E27FC236}">
                <a16:creationId xmlns:a16="http://schemas.microsoft.com/office/drawing/2014/main" id="{5D1D3ED9-AF49-4471-945D-26B467E90870}"/>
              </a:ext>
            </a:extLst>
          </p:cNvPr>
          <p:cNvSpPr txBox="1">
            <a:spLocks/>
          </p:cNvSpPr>
          <p:nvPr/>
        </p:nvSpPr>
        <p:spPr>
          <a:xfrm>
            <a:off x="935182" y="1662546"/>
            <a:ext cx="10515600" cy="6068290"/>
          </a:xfrm>
          <a:prstGeom prst="rect">
            <a:avLst/>
          </a:prstGeom>
        </p:spPr>
        <p:txBody>
          <a:bodyPr>
            <a:normAutofit fontScale="25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Font typeface="Wingdings 3" charset="2"/>
              <a:buNone/>
            </a:pPr>
            <a:r>
              <a:rPr lang="en-IN" sz="9800" b="1" dirty="0"/>
              <a:t>--ARM is basically </a:t>
            </a:r>
            <a:r>
              <a:rPr lang="en-IN" sz="9800" b="1" dirty="0">
                <a:effectLst>
                  <a:outerShdw blurRad="38100" dist="38100" dir="2700000" algn="tl">
                    <a:srgbClr val="000000">
                      <a:alpha val="43137"/>
                    </a:srgbClr>
                  </a:outerShdw>
                </a:effectLst>
              </a:rPr>
              <a:t>‘if – then’ </a:t>
            </a:r>
            <a:r>
              <a:rPr lang="en-IN" sz="9800" b="1" dirty="0"/>
              <a:t>rule</a:t>
            </a:r>
          </a:p>
          <a:p>
            <a:pPr marL="0" indent="0" algn="just">
              <a:buFont typeface="Wingdings 3" charset="2"/>
              <a:buNone/>
            </a:pPr>
            <a:r>
              <a:rPr lang="en-IN" sz="8000" dirty="0"/>
              <a:t>         (</a:t>
            </a:r>
            <a:r>
              <a:rPr lang="en-IN" sz="8000" dirty="0">
                <a:latin typeface="Times New Roman" panose="02020603050405020304" pitchFamily="18" charset="0"/>
                <a:cs typeface="Times New Roman" panose="02020603050405020304" pitchFamily="18" charset="0"/>
              </a:rPr>
              <a:t>used to classify the item from the item set as per interestingness criteria</a:t>
            </a:r>
            <a:r>
              <a:rPr lang="en-IN" sz="8000" dirty="0"/>
              <a:t>) </a:t>
            </a:r>
          </a:p>
          <a:p>
            <a:pPr marL="0" indent="0" algn="just">
              <a:buFont typeface="Wingdings 3" charset="2"/>
              <a:buNone/>
            </a:pPr>
            <a:endParaRPr lang="en-IN" sz="8000" dirty="0"/>
          </a:p>
          <a:p>
            <a:pPr marL="0" indent="0">
              <a:buFont typeface="Wingdings 3" charset="2"/>
              <a:buNone/>
            </a:pPr>
            <a:r>
              <a:rPr lang="en-IN" sz="8600" b="1" dirty="0"/>
              <a:t>--Interestingness criteria can be define by </a:t>
            </a:r>
            <a:r>
              <a:rPr lang="en-GB" sz="8600" b="1" dirty="0"/>
              <a:t> two parameters-</a:t>
            </a:r>
          </a:p>
          <a:p>
            <a:pPr marL="0" indent="0">
              <a:buFont typeface="Wingdings 3" charset="2"/>
              <a:buNone/>
            </a:pPr>
            <a:endParaRPr lang="en-GB" sz="8000" dirty="0"/>
          </a:p>
          <a:p>
            <a:pPr lvl="1"/>
            <a:r>
              <a:rPr lang="en-GB" sz="8000" dirty="0"/>
              <a:t>1) Lower bond or, Lower Threshold </a:t>
            </a:r>
            <a:r>
              <a:rPr lang="en-GB" sz="8000" b="1" u="sng" dirty="0">
                <a:effectLst>
                  <a:outerShdw blurRad="38100" dist="38100" dir="2700000" algn="tl">
                    <a:srgbClr val="000000">
                      <a:alpha val="43137"/>
                    </a:srgbClr>
                  </a:outerShdw>
                </a:effectLst>
              </a:rPr>
              <a:t>[</a:t>
            </a:r>
            <a:r>
              <a:rPr lang="en-GB" sz="8000" b="1" u="sng" dirty="0" err="1">
                <a:effectLst>
                  <a:outerShdw blurRad="38100" dist="38100" dir="2700000" algn="tl">
                    <a:srgbClr val="000000">
                      <a:alpha val="43137"/>
                    </a:srgbClr>
                  </a:outerShdw>
                </a:effectLst>
              </a:rPr>
              <a:t>Min_Support</a:t>
            </a:r>
            <a:r>
              <a:rPr lang="en-GB" sz="8000" b="1" u="sng" dirty="0">
                <a:effectLst>
                  <a:outerShdw blurRad="38100" dist="38100" dir="2700000" algn="tl">
                    <a:srgbClr val="000000">
                      <a:alpha val="43137"/>
                    </a:srgbClr>
                  </a:outerShdw>
                </a:effectLst>
              </a:rPr>
              <a:t> Rule] </a:t>
            </a:r>
          </a:p>
          <a:p>
            <a:pPr marL="914400" lvl="2" indent="0">
              <a:buFont typeface="Wingdings 3" charset="2"/>
              <a:buNone/>
            </a:pPr>
            <a:endParaRPr lang="en-GB" sz="8000" u="sng" dirty="0"/>
          </a:p>
          <a:p>
            <a:pPr marL="914400" lvl="2" indent="0">
              <a:buFont typeface="Wingdings 3" charset="2"/>
              <a:buNone/>
            </a:pPr>
            <a:r>
              <a:rPr lang="en-GB" sz="8000" u="sng" dirty="0"/>
              <a:t>General Formula:</a:t>
            </a:r>
          </a:p>
          <a:p>
            <a:pPr marL="914400" lvl="2" indent="0">
              <a:buFont typeface="Wingdings 3" charset="2"/>
              <a:buNone/>
            </a:pPr>
            <a:r>
              <a:rPr lang="en-GB" sz="8000" b="1" dirty="0">
                <a:effectLst>
                  <a:outerShdw blurRad="38100" dist="38100" dir="2700000" algn="tl">
                    <a:srgbClr val="000000">
                      <a:alpha val="43137"/>
                    </a:srgbClr>
                  </a:outerShdw>
                </a:effectLst>
              </a:rPr>
              <a:t>			R: X  </a:t>
            </a:r>
            <a:r>
              <a:rPr lang="en-GB" sz="8000" b="1" dirty="0">
                <a:effectLst>
                  <a:outerShdw blurRad="38100" dist="38100" dir="2700000" algn="tl">
                    <a:srgbClr val="000000">
                      <a:alpha val="43137"/>
                    </a:srgbClr>
                  </a:outerShdw>
                </a:effectLst>
                <a:sym typeface="Wingdings" panose="05000000000000000000" pitchFamily="2" charset="2"/>
              </a:rPr>
              <a:t>  Y  =&gt; P(XUY)</a:t>
            </a:r>
          </a:p>
          <a:p>
            <a:pPr lvl="1"/>
            <a:r>
              <a:rPr lang="en-GB" sz="8000" dirty="0"/>
              <a:t>2) Upper bond or, Higher Threshold </a:t>
            </a:r>
            <a:r>
              <a:rPr lang="en-GB" sz="8000" b="1" u="sng" dirty="0">
                <a:effectLst>
                  <a:outerShdw blurRad="38100" dist="38100" dir="2700000" algn="tl">
                    <a:srgbClr val="000000">
                      <a:alpha val="43137"/>
                    </a:srgbClr>
                  </a:outerShdw>
                </a:effectLst>
              </a:rPr>
              <a:t>[</a:t>
            </a:r>
            <a:r>
              <a:rPr lang="en-GB" sz="8000" b="1" u="sng" dirty="0" err="1">
                <a:effectLst>
                  <a:outerShdw blurRad="38100" dist="38100" dir="2700000" algn="tl">
                    <a:srgbClr val="000000">
                      <a:alpha val="43137"/>
                    </a:srgbClr>
                  </a:outerShdw>
                </a:effectLst>
              </a:rPr>
              <a:t>Min_Confidence</a:t>
            </a:r>
            <a:r>
              <a:rPr lang="en-GB" sz="8000" b="1" u="sng" dirty="0">
                <a:effectLst>
                  <a:outerShdw blurRad="38100" dist="38100" dir="2700000" algn="tl">
                    <a:srgbClr val="000000">
                      <a:alpha val="43137"/>
                    </a:srgbClr>
                  </a:outerShdw>
                </a:effectLst>
              </a:rPr>
              <a:t> Rule] </a:t>
            </a:r>
          </a:p>
          <a:p>
            <a:pPr lvl="1"/>
            <a:endParaRPr lang="en-GB" sz="8000" b="1" u="sng" dirty="0">
              <a:effectLst>
                <a:outerShdw blurRad="38100" dist="38100" dir="2700000" algn="tl">
                  <a:srgbClr val="000000">
                    <a:alpha val="43137"/>
                  </a:srgbClr>
                </a:outerShdw>
              </a:effectLst>
            </a:endParaRPr>
          </a:p>
          <a:p>
            <a:pPr marL="914400" lvl="2" indent="0">
              <a:buFont typeface="Wingdings 3" charset="2"/>
              <a:buNone/>
            </a:pPr>
            <a:r>
              <a:rPr lang="en-GB" sz="8000" u="sng" dirty="0"/>
              <a:t>General Formula:</a:t>
            </a:r>
          </a:p>
          <a:p>
            <a:pPr marL="914400" lvl="2" indent="0">
              <a:buFont typeface="Wingdings 3" charset="2"/>
              <a:buNone/>
            </a:pPr>
            <a:r>
              <a:rPr lang="en-GB" sz="8000" b="1" dirty="0">
                <a:effectLst>
                  <a:outerShdw blurRad="38100" dist="38100" dir="2700000" algn="tl">
                    <a:srgbClr val="000000">
                      <a:alpha val="43137"/>
                    </a:srgbClr>
                  </a:outerShdw>
                </a:effectLst>
              </a:rPr>
              <a:t>			R: X  </a:t>
            </a:r>
            <a:r>
              <a:rPr lang="en-GB" sz="8000" b="1" dirty="0">
                <a:effectLst>
                  <a:outerShdw blurRad="38100" dist="38100" dir="2700000" algn="tl">
                    <a:srgbClr val="000000">
                      <a:alpha val="43137"/>
                    </a:srgbClr>
                  </a:outerShdw>
                </a:effectLst>
                <a:sym typeface="Wingdings" panose="05000000000000000000" pitchFamily="2" charset="2"/>
              </a:rPr>
              <a:t>  Y  =&gt; P(Y/X)</a:t>
            </a:r>
          </a:p>
          <a:p>
            <a:pPr marL="914400" lvl="2" indent="0">
              <a:buFont typeface="Wingdings 3" charset="2"/>
              <a:buNone/>
            </a:pPr>
            <a:endParaRPr lang="en-GB" sz="8000" b="1" dirty="0">
              <a:effectLst>
                <a:outerShdw blurRad="38100" dist="38100" dir="2700000" algn="tl">
                  <a:srgbClr val="000000">
                    <a:alpha val="43137"/>
                  </a:srgbClr>
                </a:outerShdw>
              </a:effectLst>
              <a:sym typeface="Wingdings" panose="05000000000000000000" pitchFamily="2" charset="2"/>
            </a:endParaRPr>
          </a:p>
          <a:p>
            <a:pPr marL="0" indent="0" algn="just">
              <a:buFont typeface="Wingdings 3" charset="2"/>
              <a:buNone/>
            </a:pPr>
            <a:endParaRPr lang="en-IN" sz="4400" dirty="0"/>
          </a:p>
          <a:p>
            <a:pPr marL="0" indent="0" algn="just">
              <a:buFont typeface="Wingdings 3" charset="2"/>
              <a:buNone/>
            </a:pPr>
            <a:r>
              <a:rPr lang="en-IN" sz="4400" dirty="0"/>
              <a:t>.</a:t>
            </a:r>
            <a:endParaRPr lang="en-US" sz="4400" dirty="0"/>
          </a:p>
        </p:txBody>
      </p:sp>
    </p:spTree>
    <p:extLst>
      <p:ext uri="{BB962C8B-B14F-4D97-AF65-F5344CB8AC3E}">
        <p14:creationId xmlns:p14="http://schemas.microsoft.com/office/powerpoint/2010/main" val="786522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F05126A-727E-4015-B1B3-FE346921D432}"/>
              </a:ext>
            </a:extLst>
          </p:cNvPr>
          <p:cNvSpPr txBox="1">
            <a:spLocks/>
          </p:cNvSpPr>
          <p:nvPr/>
        </p:nvSpPr>
        <p:spPr>
          <a:xfrm>
            <a:off x="1610591" y="911009"/>
            <a:ext cx="8970818" cy="424288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sz="2400" dirty="0">
                <a:solidFill>
                  <a:schemeClr val="tx1"/>
                </a:solidFill>
                <a:latin typeface="Times New Roman" panose="02020603050405020304" pitchFamily="18" charset="0"/>
                <a:cs typeface="Times New Roman" panose="02020603050405020304" pitchFamily="18" charset="0"/>
              </a:rPr>
              <a:t>For a Textual Information-</a:t>
            </a:r>
          </a:p>
          <a:p>
            <a:pPr marL="0" indent="0">
              <a:buFont typeface="Wingdings 3" charset="2"/>
              <a:buNone/>
            </a:pPr>
            <a:endParaRPr lang="en-IN" sz="2400" dirty="0">
              <a:solidFill>
                <a:schemeClr val="tx1"/>
              </a:solidFill>
              <a:latin typeface="Times New Roman" panose="02020603050405020304" pitchFamily="18" charset="0"/>
              <a:cs typeface="Times New Roman" panose="02020603050405020304" pitchFamily="18" charset="0"/>
            </a:endParaRPr>
          </a:p>
          <a:p>
            <a:pPr marL="0" indent="0">
              <a:buFont typeface="Wingdings 3" charset="2"/>
              <a:buNone/>
            </a:pPr>
            <a:r>
              <a:rPr lang="en-IN" sz="2400" dirty="0">
                <a:solidFill>
                  <a:schemeClr val="tx1"/>
                </a:solidFill>
                <a:latin typeface="Times New Roman" panose="02020603050405020304" pitchFamily="18" charset="0"/>
                <a:cs typeface="Times New Roman" panose="02020603050405020304" pitchFamily="18" charset="0"/>
              </a:rPr>
              <a:t>“</a:t>
            </a:r>
            <a:r>
              <a:rPr lang="en-IN"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if a person (X) Buy a Uniform in June then he also Buy a School Bag</a:t>
            </a:r>
            <a:r>
              <a:rPr lang="en-IN" sz="2400" dirty="0">
                <a:solidFill>
                  <a:schemeClr val="tx1"/>
                </a:solidFill>
                <a:latin typeface="Times New Roman" panose="02020603050405020304" pitchFamily="18" charset="0"/>
                <a:cs typeface="Times New Roman" panose="02020603050405020304" pitchFamily="18" charset="0"/>
              </a:rPr>
              <a:t>”</a:t>
            </a:r>
          </a:p>
          <a:p>
            <a:pPr marL="0" indent="0">
              <a:buFont typeface="Wingdings 3" charset="2"/>
              <a:buNone/>
            </a:pPr>
            <a:r>
              <a:rPr lang="en-IN" sz="2400" dirty="0">
                <a:solidFill>
                  <a:schemeClr val="tx1"/>
                </a:solidFill>
                <a:latin typeface="Times New Roman" panose="02020603050405020304" pitchFamily="18" charset="0"/>
                <a:cs typeface="Times New Roman" panose="02020603050405020304" pitchFamily="18" charset="0"/>
              </a:rPr>
              <a:t> 	an association rule R can be defined as-</a:t>
            </a:r>
          </a:p>
          <a:p>
            <a:pPr marL="0" indent="0">
              <a:buFont typeface="Wingdings 3" charset="2"/>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               R1:     Buy (X, Uniform) </a:t>
            </a:r>
            <a:r>
              <a:rPr lang="en-IN" sz="24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IN" sz="2400" b="1" dirty="0">
                <a:solidFill>
                  <a:schemeClr val="tx1"/>
                </a:solidFill>
                <a:latin typeface="Times New Roman" panose="02020603050405020304" pitchFamily="18" charset="0"/>
                <a:cs typeface="Times New Roman" panose="02020603050405020304" pitchFamily="18" charset="0"/>
              </a:rPr>
              <a:t> Buy (X, </a:t>
            </a:r>
            <a:r>
              <a:rPr lang="en-IN" sz="2400" b="1" dirty="0" err="1">
                <a:solidFill>
                  <a:schemeClr val="tx1"/>
                </a:solidFill>
                <a:latin typeface="Times New Roman" panose="02020603050405020304" pitchFamily="18" charset="0"/>
                <a:cs typeface="Times New Roman" panose="02020603050405020304" pitchFamily="18" charset="0"/>
              </a:rPr>
              <a:t>School_Bag</a:t>
            </a:r>
            <a:r>
              <a:rPr lang="en-IN" sz="2400" b="1" dirty="0">
                <a:solidFill>
                  <a:schemeClr val="tx1"/>
                </a:solidFill>
                <a:latin typeface="Times New Roman" panose="02020603050405020304" pitchFamily="18" charset="0"/>
                <a:cs typeface="Times New Roman" panose="02020603050405020304" pitchFamily="18" charset="0"/>
              </a:rPr>
              <a:t>)</a:t>
            </a:r>
          </a:p>
          <a:p>
            <a:pPr marL="0" indent="0">
              <a:buFont typeface="Wingdings 3" charset="2"/>
              <a:buNone/>
            </a:pPr>
            <a:endParaRPr lang="en-IN" sz="2400" b="1" dirty="0">
              <a:solidFill>
                <a:schemeClr val="tx1"/>
              </a:solidFill>
              <a:latin typeface="Times New Roman" panose="02020603050405020304" pitchFamily="18" charset="0"/>
              <a:cs typeface="Times New Roman" panose="02020603050405020304" pitchFamily="18" charset="0"/>
            </a:endParaRP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Let R1: TRUE </a:t>
            </a: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               (</a:t>
            </a:r>
            <a:r>
              <a:rPr lang="en-IN" sz="2400" dirty="0" err="1">
                <a:solidFill>
                  <a:schemeClr val="tx1"/>
                </a:solidFill>
                <a:latin typeface="Times New Roman" panose="02020603050405020304" pitchFamily="18" charset="0"/>
                <a:cs typeface="Times New Roman" panose="02020603050405020304" pitchFamily="18" charset="0"/>
              </a:rPr>
              <a:t>iff</a:t>
            </a:r>
            <a:r>
              <a:rPr lang="en-IN" sz="2400" dirty="0">
                <a:solidFill>
                  <a:schemeClr val="tx1"/>
                </a:solidFill>
                <a:latin typeface="Times New Roman" panose="02020603050405020304" pitchFamily="18" charset="0"/>
                <a:cs typeface="Times New Roman" panose="02020603050405020304" pitchFamily="18" charset="0"/>
              </a:rPr>
              <a:t> it Pass lower Threshold, </a:t>
            </a:r>
            <a:r>
              <a:rPr lang="en-IN" sz="2400" dirty="0" err="1">
                <a:solidFill>
                  <a:schemeClr val="tx1"/>
                </a:solidFill>
                <a:latin typeface="Times New Roman" panose="02020603050405020304" pitchFamily="18" charset="0"/>
                <a:cs typeface="Times New Roman" panose="02020603050405020304" pitchFamily="18" charset="0"/>
              </a:rPr>
              <a:t>ie</a:t>
            </a:r>
            <a:r>
              <a:rPr lang="en-IN" sz="2400" dirty="0">
                <a:solidFill>
                  <a:schemeClr val="tx1"/>
                </a:solidFill>
                <a:latin typeface="Times New Roman" panose="02020603050405020304" pitchFamily="18" charset="0"/>
                <a:cs typeface="Times New Roman" panose="02020603050405020304" pitchFamily="18" charset="0"/>
              </a:rPr>
              <a:t>, Min_Supp() </a:t>
            </a:r>
            <a:r>
              <a:rPr lang="en-IN" sz="2400" b="1" dirty="0">
                <a:solidFill>
                  <a:schemeClr val="tx1"/>
                </a:solidFill>
                <a:latin typeface="Times New Roman" panose="02020603050405020304" pitchFamily="18" charset="0"/>
                <a:cs typeface="Times New Roman" panose="02020603050405020304" pitchFamily="18" charset="0"/>
              </a:rPr>
              <a:t>)</a:t>
            </a: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Then,</a:t>
            </a: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	   (Uniform &amp; Bag) are Frequent item sets</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75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008AA20-4295-45DA-9DCC-3E62F1675C04}"/>
              </a:ext>
            </a:extLst>
          </p:cNvPr>
          <p:cNvSpPr txBox="1">
            <a:spLocks/>
          </p:cNvSpPr>
          <p:nvPr/>
        </p:nvSpPr>
        <p:spPr>
          <a:xfrm>
            <a:off x="1517073" y="1260764"/>
            <a:ext cx="8028709" cy="3435928"/>
          </a:xfrm>
          <a:prstGeom prst="rect">
            <a:avLst/>
          </a:prstGeom>
        </p:spPr>
        <p:txBody>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sz="2400" dirty="0">
                <a:solidFill>
                  <a:schemeClr val="tx1"/>
                </a:solidFill>
                <a:latin typeface="Times New Roman" panose="02020603050405020304" pitchFamily="18" charset="0"/>
                <a:cs typeface="Times New Roman" panose="02020603050405020304" pitchFamily="18" charset="0"/>
              </a:rPr>
              <a:t>If rule R1 will be found true in reverse as per threshold criteria like-</a:t>
            </a:r>
            <a:endParaRPr lang="en-US" sz="2400" dirty="0">
              <a:solidFill>
                <a:schemeClr val="tx1"/>
              </a:solidFill>
              <a:latin typeface="Times New Roman" panose="02020603050405020304" pitchFamily="18" charset="0"/>
              <a:cs typeface="Times New Roman" panose="02020603050405020304" pitchFamily="18" charset="0"/>
            </a:endParaRP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           </a:t>
            </a: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             R2:     Buy (X, </a:t>
            </a:r>
            <a:r>
              <a:rPr lang="en-IN" sz="2400" b="1" dirty="0" err="1">
                <a:solidFill>
                  <a:schemeClr val="tx1"/>
                </a:solidFill>
                <a:latin typeface="Times New Roman" panose="02020603050405020304" pitchFamily="18" charset="0"/>
                <a:cs typeface="Times New Roman" panose="02020603050405020304" pitchFamily="18" charset="0"/>
              </a:rPr>
              <a:t>School_Bag</a:t>
            </a:r>
            <a:r>
              <a:rPr lang="en-IN" sz="2400" b="1" dirty="0">
                <a:solidFill>
                  <a:schemeClr val="tx1"/>
                </a:solidFill>
                <a:latin typeface="Times New Roman" panose="02020603050405020304" pitchFamily="18" charset="0"/>
                <a:cs typeface="Times New Roman" panose="02020603050405020304" pitchFamily="18" charset="0"/>
              </a:rPr>
              <a:t>) </a:t>
            </a:r>
            <a:r>
              <a:rPr lang="en-IN" sz="24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IN" sz="2400" b="1" dirty="0">
                <a:solidFill>
                  <a:schemeClr val="tx1"/>
                </a:solidFill>
                <a:latin typeface="Times New Roman" panose="02020603050405020304" pitchFamily="18" charset="0"/>
                <a:cs typeface="Times New Roman" panose="02020603050405020304" pitchFamily="18" charset="0"/>
              </a:rPr>
              <a:t> Buy (X, Uniform) </a:t>
            </a: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Let R2: TRUE </a:t>
            </a: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            (</a:t>
            </a:r>
            <a:r>
              <a:rPr lang="en-IN" sz="2400" dirty="0" err="1">
                <a:solidFill>
                  <a:schemeClr val="tx1"/>
                </a:solidFill>
                <a:latin typeface="Times New Roman" panose="02020603050405020304" pitchFamily="18" charset="0"/>
                <a:cs typeface="Times New Roman" panose="02020603050405020304" pitchFamily="18" charset="0"/>
              </a:rPr>
              <a:t>iff</a:t>
            </a:r>
            <a:r>
              <a:rPr lang="en-IN" sz="2400" dirty="0">
                <a:solidFill>
                  <a:schemeClr val="tx1"/>
                </a:solidFill>
                <a:latin typeface="Times New Roman" panose="02020603050405020304" pitchFamily="18" charset="0"/>
                <a:cs typeface="Times New Roman" panose="02020603050405020304" pitchFamily="18" charset="0"/>
              </a:rPr>
              <a:t> R1 is True &amp; Pass Upper Threshold, </a:t>
            </a:r>
            <a:r>
              <a:rPr lang="en-IN" sz="2400" dirty="0" err="1">
                <a:solidFill>
                  <a:schemeClr val="tx1"/>
                </a:solidFill>
                <a:latin typeface="Times New Roman" panose="02020603050405020304" pitchFamily="18" charset="0"/>
                <a:cs typeface="Times New Roman" panose="02020603050405020304" pitchFamily="18" charset="0"/>
              </a:rPr>
              <a:t>ie</a:t>
            </a:r>
            <a:r>
              <a:rPr lang="en-IN" sz="2400" dirty="0">
                <a:solidFill>
                  <a:schemeClr val="tx1"/>
                </a:solidFill>
                <a:latin typeface="Times New Roman" panose="02020603050405020304" pitchFamily="18" charset="0"/>
                <a:cs typeface="Times New Roman" panose="02020603050405020304" pitchFamily="18" charset="0"/>
              </a:rPr>
              <a:t>, Min_Conf() </a:t>
            </a:r>
            <a:r>
              <a:rPr lang="en-IN" sz="2400" b="1" dirty="0">
                <a:solidFill>
                  <a:schemeClr val="tx1"/>
                </a:solidFill>
                <a:latin typeface="Times New Roman" panose="02020603050405020304" pitchFamily="18" charset="0"/>
                <a:cs typeface="Times New Roman" panose="02020603050405020304" pitchFamily="18" charset="0"/>
              </a:rPr>
              <a:t>)</a:t>
            </a:r>
          </a:p>
          <a:p>
            <a:pPr marL="0" indent="0">
              <a:buFont typeface="Wingdings 3" charset="2"/>
              <a:buNone/>
            </a:pPr>
            <a:endParaRPr lang="en-IN" sz="2400" b="1" dirty="0">
              <a:solidFill>
                <a:schemeClr val="tx1"/>
              </a:solidFill>
              <a:latin typeface="Times New Roman" panose="02020603050405020304" pitchFamily="18" charset="0"/>
              <a:cs typeface="Times New Roman" panose="02020603050405020304" pitchFamily="18" charset="0"/>
            </a:endParaRP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Then,</a:t>
            </a:r>
          </a:p>
          <a:p>
            <a:pPr marL="0" indent="0">
              <a:buFont typeface="Wingdings 3" charset="2"/>
              <a:buNone/>
            </a:pPr>
            <a:r>
              <a:rPr lang="en-IN" sz="2400" b="1" dirty="0">
                <a:solidFill>
                  <a:schemeClr val="tx1"/>
                </a:solidFill>
                <a:latin typeface="Times New Roman" panose="02020603050405020304" pitchFamily="18" charset="0"/>
                <a:cs typeface="Times New Roman" panose="02020603050405020304" pitchFamily="18" charset="0"/>
              </a:rPr>
              <a:t>	   (Uniform &amp; Bag) are Interesting item sets</a:t>
            </a: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27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156" y="679528"/>
            <a:ext cx="8911687" cy="1280890"/>
          </a:xfrm>
        </p:spPr>
        <p:txBody>
          <a:bodyPr/>
          <a:lstStyle/>
          <a:p>
            <a:r>
              <a:rPr lang="en-IN" b="1" dirty="0">
                <a:latin typeface="Times New Roman" panose="02020603050405020304" pitchFamily="18" charset="0"/>
                <a:cs typeface="Times New Roman" panose="02020603050405020304" pitchFamily="18" charset="0"/>
              </a:rPr>
              <a:t>6. Introduction of Apriori Algorithm</a:t>
            </a:r>
          </a:p>
        </p:txBody>
      </p:sp>
      <p:sp>
        <p:nvSpPr>
          <p:cNvPr id="3" name="Content Placeholder 2"/>
          <p:cNvSpPr>
            <a:spLocks noGrp="1"/>
          </p:cNvSpPr>
          <p:nvPr>
            <p:ph idx="1"/>
          </p:nvPr>
        </p:nvSpPr>
        <p:spPr>
          <a:xfrm>
            <a:off x="1536997" y="1640196"/>
            <a:ext cx="6403846" cy="3777622"/>
          </a:xfrm>
        </p:spPr>
        <p:txBody>
          <a:bodyPr>
            <a:normAutofit fontScale="92500" lnSpcReduction="10000"/>
          </a:bodyPr>
          <a:lstStyle/>
          <a:p>
            <a:pPr>
              <a:lnSpc>
                <a:spcPct val="170000"/>
              </a:lnSpc>
            </a:pPr>
            <a:r>
              <a:rPr lang="en-US" sz="2800" dirty="0">
                <a:latin typeface="Times New Roman" panose="02020603050405020304" pitchFamily="18" charset="0"/>
                <a:cs typeface="Times New Roman" panose="02020603050405020304" pitchFamily="18" charset="0"/>
              </a:rPr>
              <a:t>Proposed by Agrawal and Srikant in 1994</a:t>
            </a:r>
          </a:p>
          <a:p>
            <a:pPr>
              <a:lnSpc>
                <a:spcPct val="170000"/>
              </a:lnSpc>
            </a:pPr>
            <a:r>
              <a:rPr lang="en-US" sz="2800" dirty="0">
                <a:latin typeface="Times New Roman" panose="02020603050405020304" pitchFamily="18" charset="0"/>
                <a:cs typeface="Times New Roman" panose="02020603050405020304" pitchFamily="18" charset="0"/>
              </a:rPr>
              <a:t>Market Basket Analysis</a:t>
            </a:r>
            <a:endParaRPr lang="en-IN" sz="2800" dirty="0">
              <a:latin typeface="Times New Roman" panose="02020603050405020304" pitchFamily="18" charset="0"/>
              <a:cs typeface="Times New Roman" panose="02020603050405020304" pitchFamily="18" charset="0"/>
            </a:endParaRPr>
          </a:p>
          <a:p>
            <a:pPr>
              <a:lnSpc>
                <a:spcPct val="170000"/>
              </a:lnSpc>
            </a:pPr>
            <a:r>
              <a:rPr lang="en-IN" sz="2800" dirty="0">
                <a:latin typeface="Times New Roman" panose="02020603050405020304" pitchFamily="18" charset="0"/>
                <a:cs typeface="Times New Roman" panose="02020603050405020304" pitchFamily="18" charset="0"/>
              </a:rPr>
              <a:t>For Mining Frequent Item set</a:t>
            </a:r>
          </a:p>
          <a:p>
            <a:pPr>
              <a:lnSpc>
                <a:spcPct val="170000"/>
              </a:lnSpc>
            </a:pPr>
            <a:r>
              <a:rPr lang="en-IN" sz="2800" dirty="0">
                <a:latin typeface="Times New Roman" panose="02020603050405020304" pitchFamily="18" charset="0"/>
                <a:cs typeface="Times New Roman" panose="02020603050405020304" pitchFamily="18" charset="0"/>
              </a:rPr>
              <a:t>For Mining Association Rules</a:t>
            </a:r>
          </a:p>
          <a:p>
            <a:pPr>
              <a:lnSpc>
                <a:spcPct val="170000"/>
              </a:lnSpc>
            </a:pPr>
            <a:r>
              <a:rPr lang="en-US" sz="2800" dirty="0">
                <a:latin typeface="Times New Roman" panose="02020603050405020304" pitchFamily="18" charset="0"/>
                <a:cs typeface="Times New Roman" panose="02020603050405020304" pitchFamily="18" charset="0"/>
              </a:rPr>
              <a:t>Operate on Dataset containing transactions.</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0135F525-2FEB-9433-5F80-CD74498AF05B}"/>
              </a:ext>
            </a:extLst>
          </p:cNvPr>
          <p:cNvPicPr>
            <a:picLocks noChangeAspect="1"/>
          </p:cNvPicPr>
          <p:nvPr/>
        </p:nvPicPr>
        <p:blipFill>
          <a:blip r:embed="rId2"/>
          <a:stretch>
            <a:fillRect/>
          </a:stretch>
        </p:blipFill>
        <p:spPr>
          <a:xfrm>
            <a:off x="6413676" y="2888562"/>
            <a:ext cx="2336004" cy="1280890"/>
          </a:xfrm>
          <a:prstGeom prst="rect">
            <a:avLst/>
          </a:prstGeom>
        </p:spPr>
      </p:pic>
      <p:pic>
        <p:nvPicPr>
          <p:cNvPr id="13" name="Picture 12">
            <a:extLst>
              <a:ext uri="{FF2B5EF4-FFF2-40B4-BE49-F238E27FC236}">
                <a16:creationId xmlns:a16="http://schemas.microsoft.com/office/drawing/2014/main" id="{B8A7FB2C-C4AD-36B5-09EF-E581E9432181}"/>
              </a:ext>
            </a:extLst>
          </p:cNvPr>
          <p:cNvPicPr>
            <a:picLocks noChangeAspect="1"/>
          </p:cNvPicPr>
          <p:nvPr/>
        </p:nvPicPr>
        <p:blipFill>
          <a:blip r:embed="rId3"/>
          <a:stretch>
            <a:fillRect/>
          </a:stretch>
        </p:blipFill>
        <p:spPr>
          <a:xfrm>
            <a:off x="8451507" y="1603247"/>
            <a:ext cx="3625516" cy="3651505"/>
          </a:xfrm>
          <a:prstGeom prst="rect">
            <a:avLst/>
          </a:prstGeom>
        </p:spPr>
      </p:pic>
    </p:spTree>
    <p:extLst>
      <p:ext uri="{BB962C8B-B14F-4D97-AF65-F5344CB8AC3E}">
        <p14:creationId xmlns:p14="http://schemas.microsoft.com/office/powerpoint/2010/main" val="3594978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8F34F94-98F9-442E-E58B-BB43207ADE7B}"/>
              </a:ext>
            </a:extLst>
          </p:cNvPr>
          <p:cNvSpPr txBox="1"/>
          <p:nvPr/>
        </p:nvSpPr>
        <p:spPr>
          <a:xfrm>
            <a:off x="1014159" y="866837"/>
            <a:ext cx="6444644" cy="3539430"/>
          </a:xfrm>
          <a:prstGeom prst="rect">
            <a:avLst/>
          </a:prstGeom>
          <a:noFill/>
        </p:spPr>
        <p:txBody>
          <a:bodyPr wrap="square">
            <a:spAutoFit/>
          </a:bodyPr>
          <a:lstStyle/>
          <a:p>
            <a:endParaRPr lang="en-US" sz="2800" b="1" u="sng" dirty="0">
              <a:solidFill>
                <a:srgbClr val="0070C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 large number of people use to visit shopping malls and shopping centers.</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Massive amounts of data continuously being collected and stored as transactions.</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2DA632F-3074-9D38-5CFD-EDC896F004EB}"/>
              </a:ext>
            </a:extLst>
          </p:cNvPr>
          <p:cNvPicPr>
            <a:picLocks noChangeAspect="1"/>
          </p:cNvPicPr>
          <p:nvPr/>
        </p:nvPicPr>
        <p:blipFill>
          <a:blip r:embed="rId2"/>
          <a:stretch>
            <a:fillRect/>
          </a:stretch>
        </p:blipFill>
        <p:spPr>
          <a:xfrm>
            <a:off x="8416839" y="184600"/>
            <a:ext cx="3432132" cy="3281819"/>
          </a:xfrm>
          <a:prstGeom prst="rect">
            <a:avLst/>
          </a:prstGeom>
        </p:spPr>
      </p:pic>
      <p:sp>
        <p:nvSpPr>
          <p:cNvPr id="10" name="TextBox 9">
            <a:extLst>
              <a:ext uri="{FF2B5EF4-FFF2-40B4-BE49-F238E27FC236}">
                <a16:creationId xmlns:a16="http://schemas.microsoft.com/office/drawing/2014/main" id="{12D43155-D6D7-29C3-5687-D23C99810957}"/>
              </a:ext>
            </a:extLst>
          </p:cNvPr>
          <p:cNvSpPr txBox="1"/>
          <p:nvPr/>
        </p:nvSpPr>
        <p:spPr>
          <a:xfrm>
            <a:off x="6400800" y="3552825"/>
            <a:ext cx="5566611" cy="310854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One basket tells you about what one customer purchased at one time.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Those collected data can be useful from the business prospective to find frequently purchased item sets from large transactional database</a:t>
            </a:r>
          </a:p>
        </p:txBody>
      </p:sp>
      <p:pic>
        <p:nvPicPr>
          <p:cNvPr id="11" name="Picture 10">
            <a:extLst>
              <a:ext uri="{FF2B5EF4-FFF2-40B4-BE49-F238E27FC236}">
                <a16:creationId xmlns:a16="http://schemas.microsoft.com/office/drawing/2014/main" id="{D9F89753-D9ED-BF24-09CB-6685448BBB51}"/>
              </a:ext>
            </a:extLst>
          </p:cNvPr>
          <p:cNvPicPr>
            <a:picLocks noChangeAspect="1"/>
          </p:cNvPicPr>
          <p:nvPr/>
        </p:nvPicPr>
        <p:blipFill>
          <a:blip r:embed="rId3"/>
          <a:stretch>
            <a:fillRect/>
          </a:stretch>
        </p:blipFill>
        <p:spPr>
          <a:xfrm>
            <a:off x="378129" y="3552825"/>
            <a:ext cx="4991100" cy="3305175"/>
          </a:xfrm>
          <a:prstGeom prst="rect">
            <a:avLst/>
          </a:prstGeom>
        </p:spPr>
      </p:pic>
      <p:sp>
        <p:nvSpPr>
          <p:cNvPr id="12" name="TextBox 11">
            <a:extLst>
              <a:ext uri="{FF2B5EF4-FFF2-40B4-BE49-F238E27FC236}">
                <a16:creationId xmlns:a16="http://schemas.microsoft.com/office/drawing/2014/main" id="{4FFF2A2B-511E-4309-FE60-513AC74414CF}"/>
              </a:ext>
            </a:extLst>
          </p:cNvPr>
          <p:cNvSpPr txBox="1"/>
          <p:nvPr/>
        </p:nvSpPr>
        <p:spPr>
          <a:xfrm>
            <a:off x="1609045" y="574450"/>
            <a:ext cx="621290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sng"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7. Market Basket Analysis</a:t>
            </a:r>
          </a:p>
        </p:txBody>
      </p:sp>
    </p:spTree>
    <p:extLst>
      <p:ext uri="{BB962C8B-B14F-4D97-AF65-F5344CB8AC3E}">
        <p14:creationId xmlns:p14="http://schemas.microsoft.com/office/powerpoint/2010/main" val="2636020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6FE8871-C35C-F77F-901E-3033D4D1B936}"/>
              </a:ext>
            </a:extLst>
          </p:cNvPr>
          <p:cNvPicPr>
            <a:picLocks noChangeAspect="1"/>
          </p:cNvPicPr>
          <p:nvPr/>
        </p:nvPicPr>
        <p:blipFill>
          <a:blip r:embed="rId3"/>
          <a:stretch>
            <a:fillRect/>
          </a:stretch>
        </p:blipFill>
        <p:spPr>
          <a:xfrm>
            <a:off x="621907" y="1320288"/>
            <a:ext cx="4499975" cy="2936767"/>
          </a:xfrm>
          <a:prstGeom prst="rect">
            <a:avLst/>
          </a:prstGeom>
        </p:spPr>
      </p:pic>
      <p:sp>
        <p:nvSpPr>
          <p:cNvPr id="9" name="TextBox 8">
            <a:extLst>
              <a:ext uri="{FF2B5EF4-FFF2-40B4-BE49-F238E27FC236}">
                <a16:creationId xmlns:a16="http://schemas.microsoft.com/office/drawing/2014/main" id="{AE5E54BE-56A5-8778-6DB8-0DA802D47EB6}"/>
              </a:ext>
            </a:extLst>
          </p:cNvPr>
          <p:cNvSpPr txBox="1"/>
          <p:nvPr/>
        </p:nvSpPr>
        <p:spPr>
          <a:xfrm>
            <a:off x="1026913" y="4311720"/>
            <a:ext cx="5609902" cy="206210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Frequent item set mining leads to the discovery of associations and correlations among items using concept of </a:t>
            </a:r>
            <a:r>
              <a:rPr kumimoji="0" lang="en-US" sz="32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Data Mining</a:t>
            </a: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pic>
        <p:nvPicPr>
          <p:cNvPr id="10" name="Picture 10" descr="Discover Top 5 Popular Data Mining Techniques">
            <a:extLst>
              <a:ext uri="{FF2B5EF4-FFF2-40B4-BE49-F238E27FC236}">
                <a16:creationId xmlns:a16="http://schemas.microsoft.com/office/drawing/2014/main" id="{41EE633B-7F60-DEDC-0730-F89349F9D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8333" y="2444061"/>
            <a:ext cx="5373667" cy="362598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275D79A-32E1-7F0E-3E74-475BE3C5E453}"/>
              </a:ext>
            </a:extLst>
          </p:cNvPr>
          <p:cNvSpPr txBox="1"/>
          <p:nvPr/>
        </p:nvSpPr>
        <p:spPr>
          <a:xfrm>
            <a:off x="1609045" y="574450"/>
            <a:ext cx="621290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sng"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Market Basket Analysis</a:t>
            </a:r>
          </a:p>
        </p:txBody>
      </p:sp>
      <p:sp>
        <p:nvSpPr>
          <p:cNvPr id="14" name="TextBox 13">
            <a:extLst>
              <a:ext uri="{FF2B5EF4-FFF2-40B4-BE49-F238E27FC236}">
                <a16:creationId xmlns:a16="http://schemas.microsoft.com/office/drawing/2014/main" id="{8AA77024-0F6F-53A5-BEA3-68A97CC8D951}"/>
              </a:ext>
            </a:extLst>
          </p:cNvPr>
          <p:cNvSpPr txBox="1"/>
          <p:nvPr/>
        </p:nvSpPr>
        <p:spPr>
          <a:xfrm>
            <a:off x="5455032" y="1179384"/>
            <a:ext cx="6736968" cy="206210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process of discovering frequent item sets in large transactional database is called </a:t>
            </a:r>
            <a:r>
              <a:rPr kumimoji="0" lang="en-US" sz="320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Market </a:t>
            </a:r>
            <a:r>
              <a:rPr lang="en-US" sz="3200" dirty="0">
                <a:solidFill>
                  <a:srgbClr val="0070C0"/>
                </a:solidFill>
                <a:latin typeface="Times New Roman" panose="02020603050405020304" pitchFamily="18" charset="0"/>
                <a:cs typeface="Times New Roman" panose="02020603050405020304" pitchFamily="18" charset="0"/>
              </a:rPr>
              <a:t>B</a:t>
            </a:r>
            <a:r>
              <a:rPr kumimoji="0" lang="en-US" sz="320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asket</a:t>
            </a:r>
            <a:r>
              <a:rPr kumimoji="0" lang="en-US" sz="320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lang="en-US" sz="3200" dirty="0">
                <a:solidFill>
                  <a:srgbClr val="0070C0"/>
                </a:solidFill>
                <a:latin typeface="Times New Roman" panose="02020603050405020304" pitchFamily="18" charset="0"/>
                <a:cs typeface="Times New Roman" panose="02020603050405020304" pitchFamily="18" charset="0"/>
              </a:rPr>
              <a:t>A</a:t>
            </a:r>
            <a:r>
              <a:rPr kumimoji="0" lang="en-US" sz="320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nalysis</a:t>
            </a:r>
            <a:r>
              <a:rPr kumimoji="0" lang="en-US" sz="320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405E6886-6AA5-75B1-64C0-3A89E98C345E}"/>
              </a:ext>
            </a:extLst>
          </p:cNvPr>
          <p:cNvSpPr txBox="1"/>
          <p:nvPr/>
        </p:nvSpPr>
        <p:spPr>
          <a:xfrm>
            <a:off x="7652523" y="5896769"/>
            <a:ext cx="4186551" cy="954107"/>
          </a:xfrm>
          <a:prstGeom prst="rect">
            <a:avLst/>
          </a:prstGeom>
          <a:noFill/>
        </p:spPr>
        <p:txBody>
          <a:bodyPr wrap="square">
            <a:spAutoFit/>
          </a:bodyPr>
          <a:lstStyle/>
          <a:p>
            <a:pPr algn="ctr"/>
            <a:r>
              <a:rPr 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Apriori Applies on Market Basket Analysis</a:t>
            </a:r>
          </a:p>
        </p:txBody>
      </p:sp>
    </p:spTree>
    <p:extLst>
      <p:ext uri="{BB962C8B-B14F-4D97-AF65-F5344CB8AC3E}">
        <p14:creationId xmlns:p14="http://schemas.microsoft.com/office/powerpoint/2010/main" val="249084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 calcmode="lin" valueType="num">
                                      <p:cBhvr>
                                        <p:cTn id="9" dur="1000" fill="hold"/>
                                        <p:tgtEl>
                                          <p:spTgt spid="16"/>
                                        </p:tgtEl>
                                        <p:attrNameLst>
                                          <p:attrName>style.rotation</p:attrName>
                                        </p:attrNameLst>
                                      </p:cBhvr>
                                      <p:tavLst>
                                        <p:tav tm="0">
                                          <p:val>
                                            <p:fltVal val="90"/>
                                          </p:val>
                                        </p:tav>
                                        <p:tav tm="100000">
                                          <p:val>
                                            <p:fltVal val="0"/>
                                          </p:val>
                                        </p:tav>
                                      </p:tavLst>
                                    </p:anim>
                                    <p:animEffect transition="in" filter="fade">
                                      <p:cBhvr>
                                        <p:cTn id="1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9972"/>
            <a:ext cx="10515600" cy="898899"/>
          </a:xfrm>
        </p:spPr>
        <p:txBody>
          <a:bodyPr/>
          <a:lstStyle/>
          <a:p>
            <a:pPr algn="ctr"/>
            <a:r>
              <a:rPr lang="en-GB" b="1" i="1" u="sng" dirty="0" err="1">
                <a:effectLst>
                  <a:outerShdw blurRad="38100" dist="38100" dir="2700000" algn="tl">
                    <a:srgbClr val="000000">
                      <a:alpha val="43137"/>
                    </a:srgbClr>
                  </a:outerShdw>
                </a:effectLst>
              </a:rPr>
              <a:t>Contd</a:t>
            </a:r>
            <a:r>
              <a:rPr lang="en-GB" dirty="0"/>
              <a:t>…</a:t>
            </a:r>
          </a:p>
        </p:txBody>
      </p:sp>
      <p:sp>
        <p:nvSpPr>
          <p:cNvPr id="3" name="Content Placeholder 2"/>
          <p:cNvSpPr>
            <a:spLocks noGrp="1"/>
          </p:cNvSpPr>
          <p:nvPr>
            <p:ph idx="1"/>
          </p:nvPr>
        </p:nvSpPr>
        <p:spPr>
          <a:xfrm>
            <a:off x="1676400" y="912065"/>
            <a:ext cx="10515600" cy="5795963"/>
          </a:xfrm>
        </p:spPr>
        <p:txBody>
          <a:bodyPr>
            <a:normAutofit lnSpcReduction="10000"/>
          </a:bodyPr>
          <a:lstStyle/>
          <a:p>
            <a:r>
              <a:rPr lang="en-GB" sz="2600" dirty="0">
                <a:latin typeface="Times New Roman" panose="02020603050405020304" pitchFamily="18" charset="0"/>
                <a:cs typeface="Times New Roman" panose="02020603050405020304" pitchFamily="18" charset="0"/>
              </a:rPr>
              <a:t>Apriori works on </a:t>
            </a:r>
            <a:r>
              <a:rPr lang="en-GB" sz="2600" b="1" dirty="0">
                <a:latin typeface="Times New Roman" panose="02020603050405020304" pitchFamily="18" charset="0"/>
                <a:cs typeface="Times New Roman" panose="02020603050405020304" pitchFamily="18" charset="0"/>
              </a:rPr>
              <a:t>ARM</a:t>
            </a:r>
            <a:r>
              <a:rPr lang="en-GB" sz="2600" dirty="0">
                <a:latin typeface="Times New Roman" panose="02020603050405020304" pitchFamily="18" charset="0"/>
                <a:cs typeface="Times New Roman" panose="02020603050405020304" pitchFamily="18" charset="0"/>
              </a:rPr>
              <a:t> along with two parameters-</a:t>
            </a:r>
          </a:p>
          <a:p>
            <a:pPr lvl="1"/>
            <a:r>
              <a:rPr lang="en-GB" sz="2600" dirty="0">
                <a:latin typeface="Times New Roman" panose="02020603050405020304" pitchFamily="18" charset="0"/>
                <a:cs typeface="Times New Roman" panose="02020603050405020304" pitchFamily="18" charset="0"/>
              </a:rPr>
              <a:t>1) Lower bond or, Lower Threshold </a:t>
            </a:r>
            <a:r>
              <a:rPr lang="en-GB"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[Min_Support Rule] </a:t>
            </a:r>
            <a:endParaRPr lang="en-GB"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a:endParaRPr lang="en-GB"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2" indent="0">
              <a:buNone/>
            </a:pPr>
            <a:r>
              <a:rPr lang="en-GB"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“Which States that “How Frequently Rules are Appear in Data set”.</a:t>
            </a:r>
          </a:p>
          <a:p>
            <a:pPr marL="914400" lvl="2" indent="0">
              <a:buNone/>
            </a:pPr>
            <a:r>
              <a:rPr lang="en-GB" sz="2600" dirty="0">
                <a:latin typeface="Times New Roman" panose="02020603050405020304" pitchFamily="18" charset="0"/>
                <a:cs typeface="Times New Roman" panose="02020603050405020304" pitchFamily="18" charset="0"/>
              </a:rPr>
              <a:t>General Formula:</a:t>
            </a:r>
          </a:p>
          <a:p>
            <a:pPr marL="914400" lvl="2" indent="0">
              <a:buNone/>
            </a:pPr>
            <a:r>
              <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 X  </a:t>
            </a:r>
            <a:r>
              <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  Y  =&gt; P(XUY)</a:t>
            </a:r>
            <a:endPar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2" indent="0">
              <a:buNone/>
            </a:pPr>
            <a:endPar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a:r>
              <a:rPr lang="en-GB" sz="2400" dirty="0">
                <a:latin typeface="Times New Roman" panose="02020603050405020304" pitchFamily="18" charset="0"/>
                <a:cs typeface="Times New Roman" panose="02020603050405020304" pitchFamily="18" charset="0"/>
              </a:rPr>
              <a:t>2) </a:t>
            </a:r>
            <a:r>
              <a:rPr lang="en-GB" sz="2600" dirty="0">
                <a:latin typeface="Times New Roman" panose="02020603050405020304" pitchFamily="18" charset="0"/>
                <a:cs typeface="Times New Roman" panose="02020603050405020304" pitchFamily="18" charset="0"/>
              </a:rPr>
              <a:t>Upper bond or, Higher Threshold </a:t>
            </a:r>
            <a:r>
              <a:rPr lang="en-GB"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GB" sz="2400" b="1" u="sng"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Min_Confidence</a:t>
            </a:r>
            <a:r>
              <a:rPr lang="en-GB"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Rule] </a:t>
            </a:r>
          </a:p>
          <a:p>
            <a:pPr lvl="1"/>
            <a:endParaRPr lang="en-GB"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2" indent="0">
              <a:buNone/>
            </a:pPr>
            <a:r>
              <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“Which States that “How  Often Rules are Suppose to be True in Data set”.</a:t>
            </a:r>
          </a:p>
          <a:p>
            <a:pPr marL="914400" lvl="2" indent="0">
              <a:buNone/>
            </a:pPr>
            <a:r>
              <a:rPr lang="en-GB" sz="2600" dirty="0">
                <a:latin typeface="Times New Roman" panose="02020603050405020304" pitchFamily="18" charset="0"/>
                <a:cs typeface="Times New Roman" panose="02020603050405020304" pitchFamily="18" charset="0"/>
              </a:rPr>
              <a:t>General Formula:</a:t>
            </a:r>
          </a:p>
          <a:p>
            <a:pPr marL="914400" lvl="2" indent="0">
              <a:buNone/>
            </a:pPr>
            <a:r>
              <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 X  </a:t>
            </a:r>
            <a:r>
              <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  Y  =&gt; P(Y/X)</a:t>
            </a:r>
            <a:endParaRPr lang="en-GB"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2" indent="0">
              <a:buNone/>
            </a:pPr>
            <a:endParaRPr lang="en-GB" sz="2000" b="1" dirty="0">
              <a:effectLst>
                <a:outerShdw blurRad="38100" dist="38100" dir="2700000" algn="tl">
                  <a:srgbClr val="000000">
                    <a:alpha val="43137"/>
                  </a:srgbClr>
                </a:outerShdw>
              </a:effectLst>
            </a:endParaRPr>
          </a:p>
          <a:p>
            <a:pPr lvl="2"/>
            <a:endParaRPr lang="en-GB" sz="2000" b="1" u="sng" dirty="0">
              <a:effectLst>
                <a:outerShdw blurRad="38100" dist="38100" dir="2700000" algn="tl">
                  <a:srgbClr val="000000">
                    <a:alpha val="43137"/>
                  </a:srgbClr>
                </a:outerShdw>
              </a:effectLst>
            </a:endParaRPr>
          </a:p>
          <a:p>
            <a:pPr marL="712788" lvl="2" indent="-174625"/>
            <a:endParaRPr lang="en-GB" sz="2000" dirty="0"/>
          </a:p>
        </p:txBody>
      </p:sp>
    </p:spTree>
    <p:extLst>
      <p:ext uri="{BB962C8B-B14F-4D97-AF65-F5344CB8AC3E}">
        <p14:creationId xmlns:p14="http://schemas.microsoft.com/office/powerpoint/2010/main" val="2380563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669" y="359281"/>
            <a:ext cx="8145378" cy="858557"/>
          </a:xfrm>
        </p:spPr>
        <p:txBody>
          <a:bodyPr>
            <a:normAutofit/>
          </a:bodyPr>
          <a:lstStyle/>
          <a:p>
            <a:pPr algn="ctr"/>
            <a:r>
              <a:rPr lang="en-GB" sz="4000" b="1" dirty="0">
                <a:effectLst>
                  <a:outerShdw blurRad="38100" dist="38100" dir="2700000" algn="tl">
                    <a:srgbClr val="000000">
                      <a:alpha val="43137"/>
                    </a:srgbClr>
                  </a:outerShdw>
                </a:effectLst>
              </a:rPr>
              <a:t>8. Apriori Algorithm &amp; Flow Chart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1983" y="995082"/>
            <a:ext cx="4477871" cy="5728447"/>
          </a:xfrm>
        </p:spPr>
      </p:pic>
      <p:pic>
        <p:nvPicPr>
          <p:cNvPr id="5" name="Picture 4">
            <a:extLst>
              <a:ext uri="{FF2B5EF4-FFF2-40B4-BE49-F238E27FC236}">
                <a16:creationId xmlns:a16="http://schemas.microsoft.com/office/drawing/2014/main" id="{A18BF0A2-B71D-4252-9445-6739CB486D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1595986"/>
            <a:ext cx="6051595" cy="4749395"/>
          </a:xfrm>
          <a:prstGeom prst="rect">
            <a:avLst/>
          </a:prstGeom>
        </p:spPr>
      </p:pic>
    </p:spTree>
    <p:extLst>
      <p:ext uri="{BB962C8B-B14F-4D97-AF65-F5344CB8AC3E}">
        <p14:creationId xmlns:p14="http://schemas.microsoft.com/office/powerpoint/2010/main" val="3347252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2CE9F-09D7-4C66-ADF1-45A3DDF2203D}"/>
              </a:ext>
            </a:extLst>
          </p:cNvPr>
          <p:cNvSpPr>
            <a:spLocks noGrp="1"/>
          </p:cNvSpPr>
          <p:nvPr>
            <p:ph type="title"/>
          </p:nvPr>
        </p:nvSpPr>
        <p:spPr>
          <a:xfrm>
            <a:off x="1761653" y="586887"/>
            <a:ext cx="8911687" cy="719781"/>
          </a:xfrm>
        </p:spPr>
        <p:txBody>
          <a:bodyPr/>
          <a:lstStyle/>
          <a:p>
            <a:r>
              <a:rPr lang="en-US" sz="4000" b="1" dirty="0">
                <a:effectLst>
                  <a:outerShdw blurRad="38100" dist="38100" dir="2700000" algn="tl">
                    <a:srgbClr val="000000">
                      <a:alpha val="43137"/>
                    </a:srgbClr>
                  </a:outerShdw>
                </a:effectLst>
              </a:rPr>
              <a:t>9. APRIORI EXAMPLE</a:t>
            </a:r>
          </a:p>
        </p:txBody>
      </p:sp>
      <p:sp>
        <p:nvSpPr>
          <p:cNvPr id="5" name="TextBox 4">
            <a:extLst>
              <a:ext uri="{FF2B5EF4-FFF2-40B4-BE49-F238E27FC236}">
                <a16:creationId xmlns:a16="http://schemas.microsoft.com/office/drawing/2014/main" id="{7BA09061-6F95-4DF2-B4DB-4E4F46C153A2}"/>
              </a:ext>
            </a:extLst>
          </p:cNvPr>
          <p:cNvSpPr txBox="1"/>
          <p:nvPr/>
        </p:nvSpPr>
        <p:spPr>
          <a:xfrm>
            <a:off x="1761653" y="1450309"/>
            <a:ext cx="9890020" cy="1569660"/>
          </a:xfrm>
          <a:prstGeom prst="rect">
            <a:avLst/>
          </a:prstGeom>
          <a:noFill/>
        </p:spPr>
        <p:txBody>
          <a:bodyPr wrap="square">
            <a:spAutoFit/>
          </a:bodyPr>
          <a:lstStyle/>
          <a:p>
            <a:pPr algn="just"/>
            <a:r>
              <a:rPr lang="en-US" sz="2400" b="0" i="0" u="none" strike="noStrike" baseline="0" dirty="0">
                <a:solidFill>
                  <a:srgbClr val="000000"/>
                </a:solidFill>
                <a:latin typeface="Times New Roman" panose="02020603050405020304" pitchFamily="18" charset="0"/>
              </a:rPr>
              <a:t>Suppose take an example of the Apriori Algorithm from transactional data set containing five transactions holding products from set of item sets{Milk, </a:t>
            </a:r>
            <a:r>
              <a:rPr lang="en-US" sz="2400" b="0" i="0" u="none" strike="noStrike" baseline="0" dirty="0" err="1">
                <a:solidFill>
                  <a:srgbClr val="000000"/>
                </a:solidFill>
                <a:latin typeface="Times New Roman" panose="02020603050405020304" pitchFamily="18" charset="0"/>
              </a:rPr>
              <a:t>Cold_drink</a:t>
            </a:r>
            <a:r>
              <a:rPr lang="en-US" sz="2400" b="0" i="0" u="none" strike="noStrike" baseline="0" dirty="0">
                <a:solidFill>
                  <a:srgbClr val="000000"/>
                </a:solidFill>
                <a:latin typeface="Times New Roman" panose="02020603050405020304" pitchFamily="18" charset="0"/>
              </a:rPr>
              <a:t>, Juice, Cake, Egg, Tea}.</a:t>
            </a:r>
          </a:p>
          <a:p>
            <a:pPr algn="just"/>
            <a:r>
              <a:rPr lang="en-US" sz="2400" dirty="0">
                <a:solidFill>
                  <a:srgbClr val="000000"/>
                </a:solidFill>
                <a:latin typeface="Times New Roman" panose="02020603050405020304" pitchFamily="18" charset="0"/>
              </a:rPr>
              <a:t>Let Minimum Support is 2</a:t>
            </a:r>
            <a:r>
              <a:rPr lang="en-US" sz="2400" b="0" i="0" u="none" strike="noStrike" baseline="0" dirty="0">
                <a:solidFill>
                  <a:srgbClr val="000000"/>
                </a:solidFill>
                <a:latin typeface="Times New Roman" panose="02020603050405020304" pitchFamily="18" charset="0"/>
              </a:rPr>
              <a:t> </a:t>
            </a:r>
            <a:endParaRPr lang="en-US" sz="2400" dirty="0"/>
          </a:p>
        </p:txBody>
      </p:sp>
      <p:pic>
        <p:nvPicPr>
          <p:cNvPr id="7" name="Picture 6">
            <a:extLst>
              <a:ext uri="{FF2B5EF4-FFF2-40B4-BE49-F238E27FC236}">
                <a16:creationId xmlns:a16="http://schemas.microsoft.com/office/drawing/2014/main" id="{BB264446-B278-4D74-A875-27AFA16E0F26}"/>
              </a:ext>
            </a:extLst>
          </p:cNvPr>
          <p:cNvPicPr>
            <a:picLocks noChangeAspect="1"/>
          </p:cNvPicPr>
          <p:nvPr/>
        </p:nvPicPr>
        <p:blipFill>
          <a:blip r:embed="rId2"/>
          <a:stretch>
            <a:fillRect/>
          </a:stretch>
        </p:blipFill>
        <p:spPr>
          <a:xfrm>
            <a:off x="3451908" y="3163610"/>
            <a:ext cx="5539692" cy="3048777"/>
          </a:xfrm>
          <a:prstGeom prst="rect">
            <a:avLst/>
          </a:prstGeom>
        </p:spPr>
      </p:pic>
      <p:sp>
        <p:nvSpPr>
          <p:cNvPr id="11" name="TextBox 10">
            <a:extLst>
              <a:ext uri="{FF2B5EF4-FFF2-40B4-BE49-F238E27FC236}">
                <a16:creationId xmlns:a16="http://schemas.microsoft.com/office/drawing/2014/main" id="{05E7D2CC-4426-4B16-8BA8-749112E2D3C7}"/>
              </a:ext>
            </a:extLst>
          </p:cNvPr>
          <p:cNvSpPr txBox="1"/>
          <p:nvPr/>
        </p:nvSpPr>
        <p:spPr>
          <a:xfrm>
            <a:off x="3169496" y="6271113"/>
            <a:ext cx="6096000" cy="461665"/>
          </a:xfrm>
          <a:prstGeom prst="rect">
            <a:avLst/>
          </a:prstGeom>
          <a:noFill/>
        </p:spPr>
        <p:txBody>
          <a:bodyPr wrap="square">
            <a:spAutoFit/>
          </a:bodyPr>
          <a:lstStyle/>
          <a:p>
            <a:pPr algn="ctr"/>
            <a:r>
              <a:rPr lang="nn-NO" sz="2400" b="0" i="0" u="none" strike="noStrike" baseline="0" dirty="0">
                <a:solidFill>
                  <a:srgbClr val="000000"/>
                </a:solidFill>
                <a:latin typeface="Times New Roman" panose="02020603050405020304" pitchFamily="18" charset="0"/>
                <a:cs typeface="Times New Roman" panose="02020603050405020304" pitchFamily="18" charset="0"/>
              </a:rPr>
              <a:t>Transactional data set for Apriori Algorithm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472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5AEC55-3A6D-44F0-A1F3-F5AD23D5D002}"/>
              </a:ext>
            </a:extLst>
          </p:cNvPr>
          <p:cNvPicPr>
            <a:picLocks noChangeAspect="1"/>
          </p:cNvPicPr>
          <p:nvPr/>
        </p:nvPicPr>
        <p:blipFill>
          <a:blip r:embed="rId2"/>
          <a:stretch>
            <a:fillRect/>
          </a:stretch>
        </p:blipFill>
        <p:spPr>
          <a:xfrm>
            <a:off x="2254828" y="1050884"/>
            <a:ext cx="9113800" cy="5197515"/>
          </a:xfrm>
          <a:prstGeom prst="rect">
            <a:avLst/>
          </a:prstGeom>
        </p:spPr>
      </p:pic>
    </p:spTree>
    <p:extLst>
      <p:ext uri="{BB962C8B-B14F-4D97-AF65-F5344CB8AC3E}">
        <p14:creationId xmlns:p14="http://schemas.microsoft.com/office/powerpoint/2010/main" val="1081669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8EC078-6B2D-455E-A1AA-8F1FA57C3DA3}"/>
              </a:ext>
            </a:extLst>
          </p:cNvPr>
          <p:cNvSpPr txBox="1"/>
          <p:nvPr/>
        </p:nvSpPr>
        <p:spPr>
          <a:xfrm>
            <a:off x="1939636" y="605135"/>
            <a:ext cx="9088582" cy="830997"/>
          </a:xfrm>
          <a:prstGeom prst="rect">
            <a:avLst/>
          </a:prstGeom>
          <a:noFill/>
        </p:spPr>
        <p:txBody>
          <a:bodyPr wrap="square">
            <a:spAutoFit/>
          </a:bodyPr>
          <a:lstStyle/>
          <a:p>
            <a:pPr algn="just"/>
            <a:r>
              <a:rPr lang="en-US" sz="2400" b="0" i="0" u="none" strike="noStrike" baseline="0" dirty="0">
                <a:solidFill>
                  <a:srgbClr val="000000"/>
                </a:solidFill>
                <a:latin typeface="Times New Roman" panose="02020603050405020304" pitchFamily="18" charset="0"/>
              </a:rPr>
              <a:t>Now Applying Assertion Rule Mining with minimum support (Suppose Minimum Support[</a:t>
            </a:r>
            <a:r>
              <a:rPr lang="en-US" b="1" i="0" u="none" strike="noStrike" baseline="0" dirty="0">
                <a:solidFill>
                  <a:srgbClr val="000000"/>
                </a:solidFill>
                <a:latin typeface="Arial" panose="020B0604020202020204" pitchFamily="34" charset="0"/>
              </a:rPr>
              <a:t>α] </a:t>
            </a:r>
            <a:r>
              <a:rPr lang="en-US" sz="2400" b="0" i="0" u="none" strike="noStrike" baseline="0" dirty="0">
                <a:solidFill>
                  <a:srgbClr val="000000"/>
                </a:solidFill>
                <a:latin typeface="Times New Roman" panose="02020603050405020304" pitchFamily="18" charset="0"/>
              </a:rPr>
              <a:t>=2) and find one element frequent item set- </a:t>
            </a:r>
            <a:endParaRPr lang="en-US" sz="2400" dirty="0"/>
          </a:p>
        </p:txBody>
      </p:sp>
      <p:pic>
        <p:nvPicPr>
          <p:cNvPr id="7" name="Picture 6">
            <a:extLst>
              <a:ext uri="{FF2B5EF4-FFF2-40B4-BE49-F238E27FC236}">
                <a16:creationId xmlns:a16="http://schemas.microsoft.com/office/drawing/2014/main" id="{96BF156D-55A8-42D5-A651-8E535E1E919A}"/>
              </a:ext>
            </a:extLst>
          </p:cNvPr>
          <p:cNvPicPr>
            <a:picLocks noChangeAspect="1"/>
          </p:cNvPicPr>
          <p:nvPr/>
        </p:nvPicPr>
        <p:blipFill>
          <a:blip r:embed="rId2"/>
          <a:stretch>
            <a:fillRect/>
          </a:stretch>
        </p:blipFill>
        <p:spPr>
          <a:xfrm>
            <a:off x="2111086" y="1970376"/>
            <a:ext cx="8176972" cy="3876242"/>
          </a:xfrm>
          <a:prstGeom prst="rect">
            <a:avLst/>
          </a:prstGeom>
        </p:spPr>
      </p:pic>
    </p:spTree>
    <p:extLst>
      <p:ext uri="{BB962C8B-B14F-4D97-AF65-F5344CB8AC3E}">
        <p14:creationId xmlns:p14="http://schemas.microsoft.com/office/powerpoint/2010/main" val="342732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0BD42F-FAEA-4DF9-966E-9F996A2DD3A1}"/>
              </a:ext>
            </a:extLst>
          </p:cNvPr>
          <p:cNvSpPr txBox="1"/>
          <p:nvPr/>
        </p:nvSpPr>
        <p:spPr>
          <a:xfrm>
            <a:off x="1787236" y="577426"/>
            <a:ext cx="9240982" cy="1384995"/>
          </a:xfrm>
          <a:prstGeom prst="rect">
            <a:avLst/>
          </a:prstGeom>
          <a:noFill/>
        </p:spPr>
        <p:txBody>
          <a:bodyPr wrap="square">
            <a:spAutoFit/>
          </a:bodyPr>
          <a:lstStyle/>
          <a:p>
            <a:pPr algn="just"/>
            <a:r>
              <a:rPr lang="en-US" sz="2800" b="0" i="0" u="none" strike="noStrike" baseline="0" dirty="0">
                <a:solidFill>
                  <a:srgbClr val="000000"/>
                </a:solidFill>
                <a:latin typeface="Times New Roman" panose="02020603050405020304" pitchFamily="18" charset="0"/>
              </a:rPr>
              <a:t>Now Applying Assertion Rule Mining by applying minimum support (Suppose Minimum Support[</a:t>
            </a:r>
            <a:r>
              <a:rPr lang="en-US" sz="2000" b="1" i="0" u="none" strike="noStrike" baseline="0" dirty="0">
                <a:solidFill>
                  <a:srgbClr val="000000"/>
                </a:solidFill>
                <a:latin typeface="Arial" panose="020B0604020202020204" pitchFamily="34" charset="0"/>
              </a:rPr>
              <a:t>α] </a:t>
            </a:r>
            <a:r>
              <a:rPr lang="en-US" sz="2800" b="0" i="0" u="none" strike="noStrike" baseline="0" dirty="0">
                <a:solidFill>
                  <a:srgbClr val="000000"/>
                </a:solidFill>
                <a:latin typeface="Times New Roman" panose="02020603050405020304" pitchFamily="18" charset="0"/>
              </a:rPr>
              <a:t>=2) and find two element frequent item set- </a:t>
            </a:r>
            <a:endParaRPr lang="en-US" sz="2800" dirty="0"/>
          </a:p>
        </p:txBody>
      </p:sp>
      <p:pic>
        <p:nvPicPr>
          <p:cNvPr id="5" name="Picture 4">
            <a:extLst>
              <a:ext uri="{FF2B5EF4-FFF2-40B4-BE49-F238E27FC236}">
                <a16:creationId xmlns:a16="http://schemas.microsoft.com/office/drawing/2014/main" id="{3A2D2265-4C05-41B1-ABE6-0EDD1DE965BA}"/>
              </a:ext>
            </a:extLst>
          </p:cNvPr>
          <p:cNvPicPr>
            <a:picLocks noChangeAspect="1"/>
          </p:cNvPicPr>
          <p:nvPr/>
        </p:nvPicPr>
        <p:blipFill>
          <a:blip r:embed="rId2"/>
          <a:stretch>
            <a:fillRect/>
          </a:stretch>
        </p:blipFill>
        <p:spPr>
          <a:xfrm>
            <a:off x="1995920" y="2173432"/>
            <a:ext cx="9032297" cy="3958740"/>
          </a:xfrm>
          <a:prstGeom prst="rect">
            <a:avLst/>
          </a:prstGeom>
        </p:spPr>
      </p:pic>
    </p:spTree>
    <p:extLst>
      <p:ext uri="{BB962C8B-B14F-4D97-AF65-F5344CB8AC3E}">
        <p14:creationId xmlns:p14="http://schemas.microsoft.com/office/powerpoint/2010/main" val="803277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7C0332-C8EF-4DE6-B99D-94C5641079DA}"/>
              </a:ext>
            </a:extLst>
          </p:cNvPr>
          <p:cNvSpPr txBox="1"/>
          <p:nvPr/>
        </p:nvSpPr>
        <p:spPr>
          <a:xfrm>
            <a:off x="1662544" y="715971"/>
            <a:ext cx="9573492" cy="1261884"/>
          </a:xfrm>
          <a:prstGeom prst="rect">
            <a:avLst/>
          </a:prstGeom>
          <a:noFill/>
        </p:spPr>
        <p:txBody>
          <a:bodyPr wrap="square">
            <a:spAutoFit/>
          </a:bodyPr>
          <a:lstStyle/>
          <a:p>
            <a:pPr algn="just"/>
            <a:r>
              <a:rPr lang="en-US" sz="2400" b="0" i="0" u="none" strike="noStrike" baseline="0" dirty="0">
                <a:solidFill>
                  <a:srgbClr val="000000"/>
                </a:solidFill>
                <a:latin typeface="Times New Roman" panose="02020603050405020304" pitchFamily="18" charset="0"/>
              </a:rPr>
              <a:t>Now Applying Assertion Rule Mining by applying minimum support (Suppose </a:t>
            </a:r>
            <a:r>
              <a:rPr lang="en-US" sz="2800" b="0" i="0" u="none" strike="noStrike" baseline="0" dirty="0">
                <a:solidFill>
                  <a:srgbClr val="000000"/>
                </a:solidFill>
                <a:latin typeface="Times New Roman" panose="02020603050405020304" pitchFamily="18" charset="0"/>
              </a:rPr>
              <a:t>Minimum</a:t>
            </a:r>
            <a:r>
              <a:rPr lang="en-US" sz="2400" b="0" i="0" u="none" strike="noStrike" baseline="0" dirty="0">
                <a:solidFill>
                  <a:srgbClr val="000000"/>
                </a:solidFill>
                <a:latin typeface="Times New Roman" panose="02020603050405020304" pitchFamily="18" charset="0"/>
              </a:rPr>
              <a:t> Support[</a:t>
            </a:r>
            <a:r>
              <a:rPr lang="en-US" b="1" i="0" u="none" strike="noStrike" baseline="0" dirty="0">
                <a:solidFill>
                  <a:srgbClr val="000000"/>
                </a:solidFill>
                <a:latin typeface="Arial" panose="020B0604020202020204" pitchFamily="34" charset="0"/>
              </a:rPr>
              <a:t>α] </a:t>
            </a:r>
            <a:r>
              <a:rPr lang="en-US" sz="2400" b="0" i="0" u="none" strike="noStrike" baseline="0" dirty="0">
                <a:solidFill>
                  <a:srgbClr val="000000"/>
                </a:solidFill>
                <a:latin typeface="Times New Roman" panose="02020603050405020304" pitchFamily="18" charset="0"/>
              </a:rPr>
              <a:t>=2) and find three element frequent item set- </a:t>
            </a:r>
            <a:endParaRPr lang="en-US" sz="2400" dirty="0"/>
          </a:p>
        </p:txBody>
      </p:sp>
      <p:pic>
        <p:nvPicPr>
          <p:cNvPr id="7" name="Picture 6">
            <a:extLst>
              <a:ext uri="{FF2B5EF4-FFF2-40B4-BE49-F238E27FC236}">
                <a16:creationId xmlns:a16="http://schemas.microsoft.com/office/drawing/2014/main" id="{9D6115B0-05B3-412C-B1BA-D7766396F1E9}"/>
              </a:ext>
            </a:extLst>
          </p:cNvPr>
          <p:cNvPicPr>
            <a:picLocks noChangeAspect="1"/>
          </p:cNvPicPr>
          <p:nvPr/>
        </p:nvPicPr>
        <p:blipFill>
          <a:blip r:embed="rId2"/>
          <a:stretch>
            <a:fillRect/>
          </a:stretch>
        </p:blipFill>
        <p:spPr>
          <a:xfrm>
            <a:off x="1899386" y="2496415"/>
            <a:ext cx="9336650" cy="2602057"/>
          </a:xfrm>
          <a:prstGeom prst="rect">
            <a:avLst/>
          </a:prstGeom>
        </p:spPr>
      </p:pic>
    </p:spTree>
    <p:extLst>
      <p:ext uri="{BB962C8B-B14F-4D97-AF65-F5344CB8AC3E}">
        <p14:creationId xmlns:p14="http://schemas.microsoft.com/office/powerpoint/2010/main" val="3529478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2494CC-16E4-4C89-8E3C-8B38275B1AA2}"/>
              </a:ext>
            </a:extLst>
          </p:cNvPr>
          <p:cNvSpPr txBox="1"/>
          <p:nvPr/>
        </p:nvSpPr>
        <p:spPr>
          <a:xfrm>
            <a:off x="1814945" y="563570"/>
            <a:ext cx="9185563" cy="1200329"/>
          </a:xfrm>
          <a:prstGeom prst="rect">
            <a:avLst/>
          </a:prstGeom>
          <a:noFill/>
        </p:spPr>
        <p:txBody>
          <a:bodyPr wrap="square">
            <a:spAutoFit/>
          </a:bodyPr>
          <a:lstStyle/>
          <a:p>
            <a:pPr algn="just"/>
            <a:r>
              <a:rPr lang="en-US" sz="2400" b="0" i="0" u="none" strike="noStrike" baseline="0" dirty="0">
                <a:solidFill>
                  <a:srgbClr val="000000"/>
                </a:solidFill>
                <a:latin typeface="Times New Roman" panose="02020603050405020304" pitchFamily="18" charset="0"/>
              </a:rPr>
              <a:t>Now Applying Assertion Rule Mining by applying minimum support (Suppose Minimum Support[</a:t>
            </a:r>
            <a:r>
              <a:rPr lang="en-US" b="1" i="0" u="none" strike="noStrike" baseline="0" dirty="0">
                <a:solidFill>
                  <a:srgbClr val="000000"/>
                </a:solidFill>
                <a:latin typeface="Arial" panose="020B0604020202020204" pitchFamily="34" charset="0"/>
              </a:rPr>
              <a:t>α</a:t>
            </a:r>
            <a:r>
              <a:rPr lang="en-US" sz="2400" b="0" i="0" u="none" strike="noStrike" baseline="0" dirty="0">
                <a:solidFill>
                  <a:srgbClr val="000000"/>
                </a:solidFill>
                <a:latin typeface="Times New Roman" panose="02020603050405020304" pitchFamily="18" charset="0"/>
              </a:rPr>
              <a:t>] =2) and find four element frequent item set-</a:t>
            </a:r>
            <a:endParaRPr lang="en-US" sz="2400" dirty="0"/>
          </a:p>
        </p:txBody>
      </p:sp>
      <p:pic>
        <p:nvPicPr>
          <p:cNvPr id="5" name="Picture 4">
            <a:extLst>
              <a:ext uri="{FF2B5EF4-FFF2-40B4-BE49-F238E27FC236}">
                <a16:creationId xmlns:a16="http://schemas.microsoft.com/office/drawing/2014/main" id="{F97127A3-F4E8-416E-8541-35C0C9ACB67B}"/>
              </a:ext>
            </a:extLst>
          </p:cNvPr>
          <p:cNvPicPr>
            <a:picLocks noChangeAspect="1"/>
          </p:cNvPicPr>
          <p:nvPr/>
        </p:nvPicPr>
        <p:blipFill>
          <a:blip r:embed="rId2"/>
          <a:stretch>
            <a:fillRect/>
          </a:stretch>
        </p:blipFill>
        <p:spPr>
          <a:xfrm>
            <a:off x="2479530" y="2279937"/>
            <a:ext cx="8188470" cy="2957389"/>
          </a:xfrm>
          <a:prstGeom prst="rect">
            <a:avLst/>
          </a:prstGeom>
        </p:spPr>
      </p:pic>
    </p:spTree>
    <p:extLst>
      <p:ext uri="{BB962C8B-B14F-4D97-AF65-F5344CB8AC3E}">
        <p14:creationId xmlns:p14="http://schemas.microsoft.com/office/powerpoint/2010/main" val="2841567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3BAE22-648F-41DB-AF43-E04038528A46}"/>
              </a:ext>
            </a:extLst>
          </p:cNvPr>
          <p:cNvSpPr txBox="1"/>
          <p:nvPr/>
        </p:nvSpPr>
        <p:spPr>
          <a:xfrm>
            <a:off x="1745672" y="646606"/>
            <a:ext cx="7398327" cy="707886"/>
          </a:xfrm>
          <a:prstGeom prst="rect">
            <a:avLst/>
          </a:prstGeom>
          <a:noFill/>
        </p:spPr>
        <p:txBody>
          <a:bodyPr wrap="square">
            <a:spAutoFit/>
          </a:bodyPr>
          <a:lstStyle/>
          <a:p>
            <a:r>
              <a:rPr lang="en-US" sz="4000" b="1" dirty="0">
                <a:solidFill>
                  <a:schemeClr val="tx1">
                    <a:lumMod val="85000"/>
                    <a:lumOff val="15000"/>
                  </a:schemeClr>
                </a:solidFill>
                <a:effectLst>
                  <a:outerShdw blurRad="38100" dist="38100" dir="2700000" algn="tl">
                    <a:srgbClr val="000000">
                      <a:alpha val="43137"/>
                    </a:srgbClr>
                  </a:outerShdw>
                </a:effectLst>
                <a:latin typeface="+mj-lt"/>
                <a:ea typeface="+mj-ea"/>
                <a:cs typeface="+mj-cs"/>
              </a:rPr>
              <a:t>10. Limitations of Apriori </a:t>
            </a:r>
          </a:p>
        </p:txBody>
      </p:sp>
      <p:sp>
        <p:nvSpPr>
          <p:cNvPr id="5" name="TextBox 4">
            <a:extLst>
              <a:ext uri="{FF2B5EF4-FFF2-40B4-BE49-F238E27FC236}">
                <a16:creationId xmlns:a16="http://schemas.microsoft.com/office/drawing/2014/main" id="{D1CF0F25-7595-4007-8E66-F42B49596754}"/>
              </a:ext>
            </a:extLst>
          </p:cNvPr>
          <p:cNvSpPr txBox="1"/>
          <p:nvPr/>
        </p:nvSpPr>
        <p:spPr>
          <a:xfrm>
            <a:off x="1648690" y="1687079"/>
            <a:ext cx="9337963" cy="5632311"/>
          </a:xfrm>
          <a:prstGeom prst="rect">
            <a:avLst/>
          </a:prstGeom>
          <a:noFill/>
        </p:spPr>
        <p:txBody>
          <a:bodyPr wrap="square">
            <a:spAutoFit/>
          </a:bodyPr>
          <a:lstStyle/>
          <a:p>
            <a:pPr marL="342900" indent="-342900" algn="just">
              <a:buFont typeface="Arial" panose="020B0604020202020204" pitchFamily="34" charset="0"/>
              <a:buChar char="•"/>
            </a:pPr>
            <a:r>
              <a:rPr lang="en-US" sz="2400" b="0" i="0" u="none" strike="noStrike" baseline="0" dirty="0">
                <a:solidFill>
                  <a:srgbClr val="000000"/>
                </a:solidFill>
                <a:latin typeface="Times New Roman" panose="02020603050405020304" pitchFamily="18" charset="0"/>
              </a:rPr>
              <a:t>Apriori Algorithm works for all </a:t>
            </a:r>
            <a:r>
              <a:rPr lang="en-US" sz="2400" dirty="0">
                <a:solidFill>
                  <a:srgbClr val="000000"/>
                </a:solidFill>
                <a:latin typeface="Times New Roman" panose="02020603050405020304" pitchFamily="18" charset="0"/>
              </a:rPr>
              <a:t>combinations of </a:t>
            </a:r>
            <a:r>
              <a:rPr lang="en-US" sz="2400" b="0" i="0" u="none" strike="noStrike" baseline="0" dirty="0">
                <a:solidFill>
                  <a:srgbClr val="000000"/>
                </a:solidFill>
                <a:latin typeface="Times New Roman" panose="02020603050405020304" pitchFamily="18" charset="0"/>
              </a:rPr>
              <a:t>data items appeared in all transaction whether that combination appeared in transaction or not.</a:t>
            </a:r>
          </a:p>
          <a:p>
            <a:pPr marL="342900" indent="-342900" algn="just">
              <a:buFont typeface="Arial" panose="020B0604020202020204" pitchFamily="34" charset="0"/>
              <a:buChar char="•"/>
            </a:pPr>
            <a:endParaRPr lang="en-US" sz="2400" dirty="0">
              <a:solidFill>
                <a:srgbClr val="000000"/>
              </a:solidFill>
              <a:latin typeface="Times New Roman" panose="02020603050405020304" pitchFamily="18" charset="0"/>
            </a:endParaRPr>
          </a:p>
          <a:p>
            <a:pPr marL="342900" indent="-342900" algn="just">
              <a:buFont typeface="Arial" panose="020B0604020202020204" pitchFamily="34" charset="0"/>
              <a:buChar char="•"/>
            </a:pPr>
            <a:r>
              <a:rPr lang="en-US" sz="2400" dirty="0">
                <a:solidFill>
                  <a:srgbClr val="000000"/>
                </a:solidFill>
                <a:latin typeface="Times New Roman" panose="02020603050405020304" pitchFamily="18" charset="0"/>
              </a:rPr>
              <a:t>Looking for 1- element to n-element item set to be frequent which required more and more recursive iterations, where n is total number of items appeared in all transactions.</a:t>
            </a:r>
          </a:p>
          <a:p>
            <a:pPr marL="342900" indent="-342900" algn="just">
              <a:buFont typeface="Arial" panose="020B0604020202020204" pitchFamily="34" charset="0"/>
              <a:buChar char="•"/>
            </a:pPr>
            <a:endParaRPr lang="en-US" sz="2400" dirty="0">
              <a:solidFill>
                <a:srgbClr val="000000"/>
              </a:solidFill>
              <a:latin typeface="Times New Roman" panose="02020603050405020304" pitchFamily="18" charset="0"/>
            </a:endParaRPr>
          </a:p>
          <a:p>
            <a:pPr marL="342900" indent="-342900" algn="just">
              <a:buFont typeface="Arial" panose="020B0604020202020204" pitchFamily="34" charset="0"/>
              <a:buChar char="•"/>
            </a:pPr>
            <a:r>
              <a:rPr lang="en-US" sz="2400" dirty="0">
                <a:solidFill>
                  <a:srgbClr val="000000"/>
                </a:solidFill>
                <a:latin typeface="Times New Roman" panose="02020603050405020304" pitchFamily="18" charset="0"/>
              </a:rPr>
              <a:t>Due to such recursive iterations degrades the run time of Algorithm.</a:t>
            </a:r>
          </a:p>
          <a:p>
            <a:pPr marL="342900" indent="-342900" algn="just">
              <a:buFont typeface="Arial" panose="020B0604020202020204" pitchFamily="34" charset="0"/>
              <a:buChar char="•"/>
            </a:pPr>
            <a:endParaRPr lang="en-US" sz="2400" dirty="0">
              <a:solidFill>
                <a:srgbClr val="000000"/>
              </a:solidFill>
              <a:latin typeface="Times New Roman" panose="02020603050405020304" pitchFamily="18" charset="0"/>
            </a:endParaRPr>
          </a:p>
          <a:p>
            <a:pPr marL="342900" indent="-342900" algn="just">
              <a:buFont typeface="Arial" panose="020B0604020202020204" pitchFamily="34" charset="0"/>
              <a:buChar char="•"/>
            </a:pPr>
            <a:r>
              <a:rPr lang="en-US" sz="2400" dirty="0">
                <a:solidFill>
                  <a:srgbClr val="000000"/>
                </a:solidFill>
                <a:latin typeface="Times New Roman" panose="02020603050405020304" pitchFamily="18" charset="0"/>
              </a:rPr>
              <a:t>Due to the same it required more Memory to store such run time iterations which leads to space and time complexity of algorithm. </a:t>
            </a:r>
          </a:p>
          <a:p>
            <a:pPr algn="just"/>
            <a:endParaRPr lang="en-US" sz="2400" dirty="0">
              <a:solidFill>
                <a:srgbClr val="000000"/>
              </a:solidFill>
              <a:latin typeface="Times New Roman" panose="02020603050405020304" pitchFamily="18" charset="0"/>
            </a:endParaRPr>
          </a:p>
          <a:p>
            <a:pPr algn="just"/>
            <a:endParaRPr lang="en-US" sz="2400" dirty="0">
              <a:solidFill>
                <a:srgbClr val="000000"/>
              </a:solidFill>
              <a:latin typeface="Times New Roman" panose="02020603050405020304" pitchFamily="18" charset="0"/>
            </a:endParaRPr>
          </a:p>
          <a:p>
            <a:pPr algn="just"/>
            <a:endParaRPr lang="en-US" sz="2400" dirty="0">
              <a:solidFill>
                <a:srgbClr val="000000"/>
              </a:solidFill>
              <a:latin typeface="Times New Roman" panose="02020603050405020304" pitchFamily="18" charset="0"/>
            </a:endParaRPr>
          </a:p>
          <a:p>
            <a:pPr algn="just"/>
            <a:endParaRPr lang="en-US" sz="2400" dirty="0"/>
          </a:p>
        </p:txBody>
      </p:sp>
    </p:spTree>
    <p:extLst>
      <p:ext uri="{BB962C8B-B14F-4D97-AF65-F5344CB8AC3E}">
        <p14:creationId xmlns:p14="http://schemas.microsoft.com/office/powerpoint/2010/main" val="278986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006D13A-8AC9-4933-8CE8-B05E592780E2}"/>
              </a:ext>
            </a:extLst>
          </p:cNvPr>
          <p:cNvSpPr txBox="1"/>
          <p:nvPr/>
        </p:nvSpPr>
        <p:spPr>
          <a:xfrm>
            <a:off x="1773381" y="826716"/>
            <a:ext cx="9601201" cy="1077218"/>
          </a:xfrm>
          <a:prstGeom prst="rect">
            <a:avLst/>
          </a:prstGeom>
          <a:noFill/>
        </p:spPr>
        <p:txBody>
          <a:bodyPr wrap="square">
            <a:spAutoFit/>
          </a:bodyPr>
          <a:lstStyle/>
          <a:p>
            <a:r>
              <a:rPr lang="en-US" sz="3200" b="1" dirty="0">
                <a:solidFill>
                  <a:schemeClr val="tx1">
                    <a:lumMod val="85000"/>
                    <a:lumOff val="15000"/>
                  </a:schemeClr>
                </a:solidFill>
                <a:effectLst>
                  <a:outerShdw blurRad="38100" dist="38100" dir="2700000" algn="tl">
                    <a:srgbClr val="000000">
                      <a:alpha val="43137"/>
                    </a:srgbClr>
                  </a:outerShdw>
                </a:effectLst>
                <a:latin typeface="+mj-lt"/>
                <a:ea typeface="+mj-ea"/>
                <a:cs typeface="+mj-cs"/>
              </a:rPr>
              <a:t>11. Classification and Comparison of Frequent Pattern Mining Algorithms</a:t>
            </a:r>
            <a:r>
              <a:rPr lang="en-IN" sz="3200" b="1" dirty="0">
                <a:solidFill>
                  <a:schemeClr val="tx1">
                    <a:lumMod val="85000"/>
                    <a:lumOff val="15000"/>
                  </a:schemeClr>
                </a:solidFill>
                <a:effectLst>
                  <a:outerShdw blurRad="38100" dist="38100" dir="2700000" algn="tl">
                    <a:srgbClr val="000000">
                      <a:alpha val="43137"/>
                    </a:srgbClr>
                  </a:outerShdw>
                </a:effectLst>
                <a:latin typeface="+mj-lt"/>
                <a:ea typeface="+mj-ea"/>
                <a:cs typeface="+mj-cs"/>
              </a:rPr>
              <a:t> </a:t>
            </a:r>
            <a:endParaRPr lang="en-US" sz="3200" b="1" dirty="0">
              <a:solidFill>
                <a:schemeClr val="tx1">
                  <a:lumMod val="85000"/>
                  <a:lumOff val="15000"/>
                </a:schemeClr>
              </a:solidFill>
              <a:effectLst>
                <a:outerShdw blurRad="38100" dist="38100" dir="2700000" algn="tl">
                  <a:srgbClr val="000000">
                    <a:alpha val="43137"/>
                  </a:srgbClr>
                </a:outerShdw>
              </a:effectLst>
              <a:latin typeface="+mj-lt"/>
              <a:ea typeface="+mj-ea"/>
              <a:cs typeface="+mj-cs"/>
            </a:endParaRPr>
          </a:p>
        </p:txBody>
      </p:sp>
      <p:pic>
        <p:nvPicPr>
          <p:cNvPr id="9" name="Picture 8">
            <a:extLst>
              <a:ext uri="{FF2B5EF4-FFF2-40B4-BE49-F238E27FC236}">
                <a16:creationId xmlns:a16="http://schemas.microsoft.com/office/drawing/2014/main" id="{973B23EE-AAEB-4517-9596-20B819800180}"/>
              </a:ext>
            </a:extLst>
          </p:cNvPr>
          <p:cNvPicPr>
            <a:picLocks noChangeAspect="1"/>
          </p:cNvPicPr>
          <p:nvPr/>
        </p:nvPicPr>
        <p:blipFill>
          <a:blip r:embed="rId2"/>
          <a:stretch>
            <a:fillRect/>
          </a:stretch>
        </p:blipFill>
        <p:spPr>
          <a:xfrm>
            <a:off x="977690" y="2293793"/>
            <a:ext cx="6867598" cy="4065443"/>
          </a:xfrm>
          <a:prstGeom prst="rect">
            <a:avLst/>
          </a:prstGeom>
        </p:spPr>
      </p:pic>
      <p:graphicFrame>
        <p:nvGraphicFramePr>
          <p:cNvPr id="10" name="Object 9">
            <a:extLst>
              <a:ext uri="{FF2B5EF4-FFF2-40B4-BE49-F238E27FC236}">
                <a16:creationId xmlns:a16="http://schemas.microsoft.com/office/drawing/2014/main" id="{C00AA72F-6A4B-27E7-77AC-33AE6176A0B3}"/>
              </a:ext>
            </a:extLst>
          </p:cNvPr>
          <p:cNvGraphicFramePr>
            <a:graphicFrameLocks noChangeAspect="1"/>
          </p:cNvGraphicFramePr>
          <p:nvPr>
            <p:extLst>
              <p:ext uri="{D42A27DB-BD31-4B8C-83A1-F6EECF244321}">
                <p14:modId xmlns:p14="http://schemas.microsoft.com/office/powerpoint/2010/main" val="2009529705"/>
              </p:ext>
            </p:extLst>
          </p:nvPr>
        </p:nvGraphicFramePr>
        <p:xfrm>
          <a:off x="7845287" y="2411896"/>
          <a:ext cx="2729947" cy="291547"/>
        </p:xfrm>
        <a:graphic>
          <a:graphicData uri="http://schemas.openxmlformats.org/presentationml/2006/ole">
            <mc:AlternateContent xmlns:mc="http://schemas.openxmlformats.org/markup-compatibility/2006">
              <mc:Choice xmlns:v="urn:schemas-microsoft-com:vml" Requires="v">
                <p:oleObj name="Worksheet" r:id="rId3" imgW="2476657" imgH="200126" progId="Excel.Sheet.12">
                  <p:embed/>
                </p:oleObj>
              </mc:Choice>
              <mc:Fallback>
                <p:oleObj name="Worksheet" r:id="rId3" imgW="2476657" imgH="200126" progId="Excel.Sheet.12">
                  <p:embed/>
                  <p:pic>
                    <p:nvPicPr>
                      <p:cNvPr id="0" name=""/>
                      <p:cNvPicPr/>
                      <p:nvPr/>
                    </p:nvPicPr>
                    <p:blipFill>
                      <a:blip r:embed="rId4"/>
                      <a:stretch>
                        <a:fillRect/>
                      </a:stretch>
                    </p:blipFill>
                    <p:spPr>
                      <a:xfrm>
                        <a:off x="7845287" y="2411896"/>
                        <a:ext cx="2729947" cy="291547"/>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88503F49-4BAC-AE78-3FE3-06A075473056}"/>
              </a:ext>
            </a:extLst>
          </p:cNvPr>
          <p:cNvGraphicFramePr>
            <a:graphicFrameLocks noChangeAspect="1"/>
          </p:cNvGraphicFramePr>
          <p:nvPr>
            <p:extLst>
              <p:ext uri="{D42A27DB-BD31-4B8C-83A1-F6EECF244321}">
                <p14:modId xmlns:p14="http://schemas.microsoft.com/office/powerpoint/2010/main" val="4229032029"/>
              </p:ext>
            </p:extLst>
          </p:nvPr>
        </p:nvGraphicFramePr>
        <p:xfrm>
          <a:off x="7845287" y="3863011"/>
          <a:ext cx="2729946" cy="291547"/>
        </p:xfrm>
        <a:graphic>
          <a:graphicData uri="http://schemas.openxmlformats.org/presentationml/2006/ole">
            <mc:AlternateContent xmlns:mc="http://schemas.openxmlformats.org/markup-compatibility/2006">
              <mc:Choice xmlns:v="urn:schemas-microsoft-com:vml" Requires="v">
                <p:oleObj name="Worksheet" r:id="rId5" imgW="2476657" imgH="200126" progId="Excel.Sheet.12">
                  <p:embed/>
                </p:oleObj>
              </mc:Choice>
              <mc:Fallback>
                <p:oleObj name="Worksheet" r:id="rId5" imgW="2476657" imgH="200126" progId="Excel.Sheet.12">
                  <p:embed/>
                  <p:pic>
                    <p:nvPicPr>
                      <p:cNvPr id="0" name=""/>
                      <p:cNvPicPr/>
                      <p:nvPr/>
                    </p:nvPicPr>
                    <p:blipFill>
                      <a:blip r:embed="rId6"/>
                      <a:stretch>
                        <a:fillRect/>
                      </a:stretch>
                    </p:blipFill>
                    <p:spPr>
                      <a:xfrm>
                        <a:off x="7845287" y="3863011"/>
                        <a:ext cx="2729946" cy="291547"/>
                      </a:xfrm>
                      <a:prstGeom prst="rect">
                        <a:avLst/>
                      </a:prstGeom>
                    </p:spPr>
                  </p:pic>
                </p:oleObj>
              </mc:Fallback>
            </mc:AlternateContent>
          </a:graphicData>
        </a:graphic>
      </p:graphicFrame>
    </p:spTree>
    <p:extLst>
      <p:ext uri="{BB962C8B-B14F-4D97-AF65-F5344CB8AC3E}">
        <p14:creationId xmlns:p14="http://schemas.microsoft.com/office/powerpoint/2010/main" val="363195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01E002-357B-42A5-9D39-024B0E21B60E}"/>
              </a:ext>
            </a:extLst>
          </p:cNvPr>
          <p:cNvPicPr>
            <a:picLocks noChangeAspect="1"/>
          </p:cNvPicPr>
          <p:nvPr/>
        </p:nvPicPr>
        <p:blipFill>
          <a:blip r:embed="rId2"/>
          <a:stretch>
            <a:fillRect/>
          </a:stretch>
        </p:blipFill>
        <p:spPr>
          <a:xfrm>
            <a:off x="5406189" y="0"/>
            <a:ext cx="6785811" cy="6882324"/>
          </a:xfrm>
          <a:prstGeom prst="rect">
            <a:avLst/>
          </a:prstGeom>
        </p:spPr>
      </p:pic>
      <p:sp>
        <p:nvSpPr>
          <p:cNvPr id="5" name="TextBox 4">
            <a:extLst>
              <a:ext uri="{FF2B5EF4-FFF2-40B4-BE49-F238E27FC236}">
                <a16:creationId xmlns:a16="http://schemas.microsoft.com/office/drawing/2014/main" id="{3431B364-7E37-49BD-BFD7-4B7C82126D86}"/>
              </a:ext>
            </a:extLst>
          </p:cNvPr>
          <p:cNvSpPr txBox="1"/>
          <p:nvPr/>
        </p:nvSpPr>
        <p:spPr>
          <a:xfrm>
            <a:off x="1097244" y="622177"/>
            <a:ext cx="4793672" cy="1138773"/>
          </a:xfrm>
          <a:prstGeom prst="rect">
            <a:avLst/>
          </a:prstGeom>
          <a:noFill/>
        </p:spPr>
        <p:txBody>
          <a:bodyPr wrap="square">
            <a:spAutoFit/>
          </a:bodyPr>
          <a:lstStyle/>
          <a:p>
            <a:pPr algn="ctr"/>
            <a:r>
              <a:rPr lang="en-US" sz="3200" b="1" i="0" u="none" strike="noStrike" baseline="0" dirty="0">
                <a:solidFill>
                  <a:srgbClr val="000000"/>
                </a:solidFill>
                <a:latin typeface="Times New Roman" panose="02020603050405020304" pitchFamily="18" charset="0"/>
              </a:rPr>
              <a:t>12. Comparison for </a:t>
            </a:r>
            <a:r>
              <a:rPr lang="en-US" sz="3600" b="1" i="0" u="none" strike="noStrike" baseline="0" dirty="0">
                <a:solidFill>
                  <a:srgbClr val="000000"/>
                </a:solidFill>
                <a:latin typeface="Times New Roman" panose="02020603050405020304" pitchFamily="18" charset="0"/>
              </a:rPr>
              <a:t>Research</a:t>
            </a:r>
            <a:r>
              <a:rPr lang="en-US" sz="3200" b="1" i="0" u="none" strike="noStrike" baseline="0" dirty="0">
                <a:solidFill>
                  <a:srgbClr val="000000"/>
                </a:solidFill>
                <a:latin typeface="Times New Roman" panose="02020603050405020304" pitchFamily="18" charset="0"/>
              </a:rPr>
              <a:t> Gap </a:t>
            </a:r>
            <a:endParaRPr lang="en-US" sz="3200" b="1" dirty="0"/>
          </a:p>
        </p:txBody>
      </p:sp>
      <p:sp>
        <p:nvSpPr>
          <p:cNvPr id="7" name="TextBox 6">
            <a:extLst>
              <a:ext uri="{FF2B5EF4-FFF2-40B4-BE49-F238E27FC236}">
                <a16:creationId xmlns:a16="http://schemas.microsoft.com/office/drawing/2014/main" id="{C5BC1CE3-E2F0-4039-B758-6AE7C576B36D}"/>
              </a:ext>
            </a:extLst>
          </p:cNvPr>
          <p:cNvSpPr txBox="1"/>
          <p:nvPr/>
        </p:nvSpPr>
        <p:spPr>
          <a:xfrm>
            <a:off x="699656" y="2690336"/>
            <a:ext cx="3727965" cy="3416320"/>
          </a:xfrm>
          <a:prstGeom prst="rect">
            <a:avLst/>
          </a:prstGeom>
          <a:noFill/>
        </p:spPr>
        <p:txBody>
          <a:bodyPr wrap="square">
            <a:spAutoFit/>
          </a:bodyPr>
          <a:lstStyle/>
          <a:p>
            <a:pPr algn="just"/>
            <a:r>
              <a:rPr lang="en-US" sz="2400" b="0" i="0" u="none" strike="noStrike" baseline="0" dirty="0">
                <a:solidFill>
                  <a:srgbClr val="000000"/>
                </a:solidFill>
                <a:latin typeface="Times New Roman" panose="02020603050405020304" pitchFamily="18" charset="0"/>
              </a:rPr>
              <a:t>As per the detailed discussion over various Data Mining Algorithm, Apriori Algorithm required recursive traversal of transactions for finding frequent item sets among the number of item sets containing transactions </a:t>
            </a:r>
            <a:endParaRPr lang="en-US" sz="2400" dirty="0"/>
          </a:p>
        </p:txBody>
      </p:sp>
    </p:spTree>
    <p:extLst>
      <p:ext uri="{BB962C8B-B14F-4D97-AF65-F5344CB8AC3E}">
        <p14:creationId xmlns:p14="http://schemas.microsoft.com/office/powerpoint/2010/main" val="2288957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907E17-07C7-4AD4-B4F6-1B041C94D7A7}"/>
              </a:ext>
            </a:extLst>
          </p:cNvPr>
          <p:cNvSpPr txBox="1"/>
          <p:nvPr/>
        </p:nvSpPr>
        <p:spPr>
          <a:xfrm>
            <a:off x="1717964" y="689797"/>
            <a:ext cx="8409709" cy="584775"/>
          </a:xfrm>
          <a:prstGeom prst="rect">
            <a:avLst/>
          </a:prstGeom>
          <a:noFill/>
        </p:spPr>
        <p:txBody>
          <a:bodyPr wrap="square">
            <a:spAutoFit/>
          </a:bodyPr>
          <a:lstStyle/>
          <a:p>
            <a:r>
              <a:rPr lang="en-US" sz="3200" b="1" i="0" u="none" strike="noStrike" baseline="0" dirty="0">
                <a:solidFill>
                  <a:srgbClr val="000000"/>
                </a:solidFill>
                <a:latin typeface="Times New Roman" panose="02020603050405020304" pitchFamily="18" charset="0"/>
              </a:rPr>
              <a:t>OBJECTIVES OF PROPOSED WORK</a:t>
            </a:r>
            <a:endParaRPr lang="en-US" sz="2400" b="0" i="0" u="none" strike="noStrike" baseline="0" dirty="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0365E392-9215-4A4E-8EF1-BED8108A300C}"/>
              </a:ext>
            </a:extLst>
          </p:cNvPr>
          <p:cNvSpPr txBox="1"/>
          <p:nvPr/>
        </p:nvSpPr>
        <p:spPr>
          <a:xfrm>
            <a:off x="2444964" y="1805735"/>
            <a:ext cx="7682709" cy="3246530"/>
          </a:xfrm>
          <a:prstGeom prst="rect">
            <a:avLst/>
          </a:prstGeom>
          <a:noFill/>
        </p:spPr>
        <p:txBody>
          <a:bodyPr wrap="square">
            <a:spAutoFit/>
          </a:bodyPr>
          <a:lstStyle/>
          <a:p>
            <a:pPr algn="just">
              <a:lnSpc>
                <a:spcPct val="15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The main objective of this research work is to develop an efficient Heuristic Apriori Algorithm to generate frequent item sets and use these frequent item sets for generating association rules from Textual data.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5313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19757D-38FF-4BD4-8E2F-824AF55C0AC3}"/>
              </a:ext>
            </a:extLst>
          </p:cNvPr>
          <p:cNvSpPr txBox="1"/>
          <p:nvPr/>
        </p:nvSpPr>
        <p:spPr>
          <a:xfrm>
            <a:off x="1828800" y="480444"/>
            <a:ext cx="6096000" cy="1200329"/>
          </a:xfrm>
          <a:prstGeom prst="rect">
            <a:avLst/>
          </a:prstGeom>
          <a:noFill/>
        </p:spPr>
        <p:txBody>
          <a:bodyPr wrap="square">
            <a:spAutoFit/>
          </a:bodyPr>
          <a:lstStyle/>
          <a:p>
            <a:pPr algn="l"/>
            <a:endParaRPr lang="en-US" sz="1800" b="0" i="0" u="none" strike="noStrike" baseline="0" dirty="0">
              <a:solidFill>
                <a:srgbClr val="000000"/>
              </a:solidFill>
            </a:endParaRPr>
          </a:p>
          <a:p>
            <a:r>
              <a:rPr lang="en-US" sz="3600" b="1" dirty="0">
                <a:solidFill>
                  <a:srgbClr val="000000"/>
                </a:solidFill>
                <a:latin typeface="Times New Roman" panose="02020603050405020304" pitchFamily="18" charset="0"/>
              </a:rPr>
              <a:t>RESEARCH GAP </a:t>
            </a:r>
          </a:p>
          <a:p>
            <a:endParaRPr lang="en-US" sz="1800" b="0" i="0" u="none" strike="noStrike" baseline="0" dirty="0">
              <a:solidFill>
                <a:srgbClr val="000000"/>
              </a:solidFill>
            </a:endParaRPr>
          </a:p>
        </p:txBody>
      </p:sp>
      <p:sp>
        <p:nvSpPr>
          <p:cNvPr id="7" name="TextBox 6">
            <a:extLst>
              <a:ext uri="{FF2B5EF4-FFF2-40B4-BE49-F238E27FC236}">
                <a16:creationId xmlns:a16="http://schemas.microsoft.com/office/drawing/2014/main" id="{D826D49E-6253-4578-9E7B-B2EED96EC92A}"/>
              </a:ext>
            </a:extLst>
          </p:cNvPr>
          <p:cNvSpPr txBox="1"/>
          <p:nvPr/>
        </p:nvSpPr>
        <p:spPr>
          <a:xfrm>
            <a:off x="1953491" y="1810618"/>
            <a:ext cx="8839200" cy="4269887"/>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Apriori Algorithm takes large Computation Time as it scans database again and again.</a:t>
            </a:r>
          </a:p>
          <a:p>
            <a:pPr marL="285750" indent="-285750" algn="just">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algorithm scans the database too many times, which reduces the overall performance.</a:t>
            </a:r>
          </a:p>
          <a:p>
            <a:pPr marL="285750" indent="-285750" algn="just">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Time and space complexity of this algorithm is very high.</a:t>
            </a:r>
          </a:p>
        </p:txBody>
      </p:sp>
    </p:spTree>
    <p:extLst>
      <p:ext uri="{BB962C8B-B14F-4D97-AF65-F5344CB8AC3E}">
        <p14:creationId xmlns:p14="http://schemas.microsoft.com/office/powerpoint/2010/main" val="3030590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148BCB-04C4-4B04-878A-9BD0E3C898FF}"/>
              </a:ext>
            </a:extLst>
          </p:cNvPr>
          <p:cNvSpPr txBox="1"/>
          <p:nvPr/>
        </p:nvSpPr>
        <p:spPr>
          <a:xfrm>
            <a:off x="1731818" y="634378"/>
            <a:ext cx="6096000" cy="584775"/>
          </a:xfrm>
          <a:prstGeom prst="rect">
            <a:avLst/>
          </a:prstGeom>
          <a:noFill/>
        </p:spPr>
        <p:txBody>
          <a:bodyPr wrap="square">
            <a:spAutoFit/>
          </a:bodyPr>
          <a:lstStyle/>
          <a:p>
            <a:r>
              <a:rPr lang="en-US" sz="3200" b="1" i="0" u="none" strike="noStrike" baseline="0" dirty="0">
                <a:solidFill>
                  <a:srgbClr val="000000"/>
                </a:solidFill>
                <a:latin typeface="Times New Roman" panose="02020603050405020304" pitchFamily="18" charset="0"/>
              </a:rPr>
              <a:t>RESEARCH METHODOLOGY </a:t>
            </a:r>
            <a:endParaRPr lang="en-US" sz="3200" b="0" i="0" u="none" strike="noStrike" baseline="0" dirty="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85BB22FD-E62F-454D-BD35-FC75E4FF173C}"/>
              </a:ext>
            </a:extLst>
          </p:cNvPr>
          <p:cNvSpPr txBox="1"/>
          <p:nvPr/>
        </p:nvSpPr>
        <p:spPr>
          <a:xfrm>
            <a:off x="1731818" y="1219153"/>
            <a:ext cx="9504218" cy="5565947"/>
          </a:xfrm>
          <a:prstGeom prst="rect">
            <a:avLst/>
          </a:prstGeom>
          <a:noFill/>
        </p:spPr>
        <p:txBody>
          <a:bodyPr wrap="square">
            <a:spAutoFit/>
          </a:bodyPr>
          <a:lstStyle/>
          <a:p>
            <a:pPr>
              <a:lnSpc>
                <a:spcPct val="150000"/>
              </a:lnSpc>
            </a:pPr>
            <a:r>
              <a:rPr lang="en-US" sz="2400" b="0" i="0" u="none" strike="noStrike" baseline="0" dirty="0">
                <a:solidFill>
                  <a:srgbClr val="000000"/>
                </a:solidFill>
                <a:latin typeface="Times New Roman" panose="02020603050405020304" pitchFamily="18" charset="0"/>
              </a:rPr>
              <a:t>1. Take Text data from Departmental store </a:t>
            </a:r>
          </a:p>
          <a:p>
            <a:pPr marL="234950" indent="-234950">
              <a:lnSpc>
                <a:spcPct val="150000"/>
              </a:lnSpc>
            </a:pPr>
            <a:r>
              <a:rPr lang="en-US" sz="2400" b="0" i="0" u="none" strike="noStrike" baseline="0" dirty="0">
                <a:solidFill>
                  <a:srgbClr val="000000"/>
                </a:solidFill>
                <a:latin typeface="Times New Roman" panose="02020603050405020304" pitchFamily="18" charset="0"/>
              </a:rPr>
              <a:t>2. Use Apriori algorithm and record access time (RT1) to find n-element item sets. </a:t>
            </a:r>
          </a:p>
          <a:p>
            <a:pPr marL="234950" indent="-234950">
              <a:lnSpc>
                <a:spcPct val="150000"/>
              </a:lnSpc>
            </a:pPr>
            <a:r>
              <a:rPr lang="en-US" sz="2400" b="0" i="0" u="none" strike="noStrike" baseline="0" dirty="0">
                <a:solidFill>
                  <a:srgbClr val="000000"/>
                </a:solidFill>
                <a:latin typeface="Times New Roman" panose="02020603050405020304" pitchFamily="18" charset="0"/>
              </a:rPr>
              <a:t>3. Apply Heuristic Algorithm and record access time (RT2) to find n-element item sets. </a:t>
            </a:r>
          </a:p>
          <a:p>
            <a:pPr marL="234950" indent="-234950">
              <a:lnSpc>
                <a:spcPct val="150000"/>
              </a:lnSpc>
            </a:pPr>
            <a:r>
              <a:rPr lang="en-US" sz="2400" b="0" i="0" u="none" strike="noStrike" baseline="0" dirty="0">
                <a:solidFill>
                  <a:srgbClr val="000000"/>
                </a:solidFill>
                <a:latin typeface="Times New Roman" panose="02020603050405020304" pitchFamily="18" charset="0"/>
              </a:rPr>
              <a:t>4. Compared RT1 and RT2 with respect to traditional Apriori and Heuristic Apriori for performance measure </a:t>
            </a:r>
          </a:p>
          <a:p>
            <a:pPr marL="234950" indent="-234950">
              <a:lnSpc>
                <a:spcPct val="150000"/>
              </a:lnSpc>
            </a:pPr>
            <a:r>
              <a:rPr lang="en-US" sz="2400" b="0" i="0" u="none" strike="noStrike" baseline="0" dirty="0">
                <a:solidFill>
                  <a:srgbClr val="000000"/>
                </a:solidFill>
                <a:latin typeface="Times New Roman" panose="02020603050405020304" pitchFamily="18" charset="0"/>
              </a:rPr>
              <a:t>5. If RT2 &lt; RT1 then, It will be observed that Heuristic Apriori Algorithm gives better Performance with respect to time. </a:t>
            </a:r>
          </a:p>
          <a:p>
            <a:pPr>
              <a:lnSpc>
                <a:spcPct val="150000"/>
              </a:lnSpc>
            </a:pPr>
            <a:r>
              <a:rPr lang="en-US" sz="2400" b="0" i="0" u="none" strike="noStrike" baseline="0" dirty="0">
                <a:solidFill>
                  <a:srgbClr val="000000"/>
                </a:solidFill>
                <a:latin typeface="Times New Roman" panose="02020603050405020304" pitchFamily="18" charset="0"/>
              </a:rPr>
              <a:t>6. Python will be used for the Same. </a:t>
            </a:r>
          </a:p>
        </p:txBody>
      </p:sp>
    </p:spTree>
    <p:extLst>
      <p:ext uri="{BB962C8B-B14F-4D97-AF65-F5344CB8AC3E}">
        <p14:creationId xmlns:p14="http://schemas.microsoft.com/office/powerpoint/2010/main" val="3771490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AD4B4-E3E9-400F-A623-09480213351F}"/>
              </a:ext>
            </a:extLst>
          </p:cNvPr>
          <p:cNvSpPr txBox="1"/>
          <p:nvPr/>
        </p:nvSpPr>
        <p:spPr>
          <a:xfrm>
            <a:off x="1828800" y="785244"/>
            <a:ext cx="6096000" cy="523220"/>
          </a:xfrm>
          <a:prstGeom prst="rect">
            <a:avLst/>
          </a:prstGeom>
          <a:noFill/>
        </p:spPr>
        <p:txBody>
          <a:bodyPr wrap="square">
            <a:spAutoFit/>
          </a:bodyPr>
          <a:lstStyle/>
          <a:p>
            <a:r>
              <a:rPr lang="en-US" sz="2800" b="1" i="0" u="none" strike="noStrike" baseline="0" dirty="0">
                <a:solidFill>
                  <a:srgbClr val="000000"/>
                </a:solidFill>
                <a:latin typeface="Times New Roman" panose="02020603050405020304" pitchFamily="18" charset="0"/>
                <a:cs typeface="Times New Roman" panose="02020603050405020304" pitchFamily="18" charset="0"/>
              </a:rPr>
              <a:t>PROPOSED WORK </a:t>
            </a:r>
          </a:p>
        </p:txBody>
      </p:sp>
      <p:pic>
        <p:nvPicPr>
          <p:cNvPr id="9" name="Picture 8">
            <a:extLst>
              <a:ext uri="{FF2B5EF4-FFF2-40B4-BE49-F238E27FC236}">
                <a16:creationId xmlns:a16="http://schemas.microsoft.com/office/drawing/2014/main" id="{4B9B059B-C2DA-4648-B680-5B32952F56C8}"/>
              </a:ext>
            </a:extLst>
          </p:cNvPr>
          <p:cNvPicPr>
            <a:picLocks noChangeAspect="1"/>
          </p:cNvPicPr>
          <p:nvPr/>
        </p:nvPicPr>
        <p:blipFill>
          <a:blip r:embed="rId2"/>
          <a:stretch>
            <a:fillRect/>
          </a:stretch>
        </p:blipFill>
        <p:spPr>
          <a:xfrm>
            <a:off x="1828800" y="1426752"/>
            <a:ext cx="6623824" cy="5330109"/>
          </a:xfrm>
          <a:prstGeom prst="rect">
            <a:avLst/>
          </a:prstGeom>
        </p:spPr>
      </p:pic>
    </p:spTree>
    <p:extLst>
      <p:ext uri="{BB962C8B-B14F-4D97-AF65-F5344CB8AC3E}">
        <p14:creationId xmlns:p14="http://schemas.microsoft.com/office/powerpoint/2010/main" val="509863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AD4B4-E3E9-400F-A623-09480213351F}"/>
              </a:ext>
            </a:extLst>
          </p:cNvPr>
          <p:cNvSpPr txBox="1"/>
          <p:nvPr/>
        </p:nvSpPr>
        <p:spPr>
          <a:xfrm>
            <a:off x="1440872" y="632844"/>
            <a:ext cx="6096000" cy="669542"/>
          </a:xfrm>
          <a:prstGeom prst="rect">
            <a:avLst/>
          </a:prstGeom>
          <a:noFill/>
        </p:spPr>
        <p:txBody>
          <a:bodyPr wrap="square">
            <a:spAutoFit/>
          </a:bodyPr>
          <a:lstStyle/>
          <a:p>
            <a:pPr marR="0" lvl="1">
              <a:lnSpc>
                <a:spcPct val="150000"/>
              </a:lnSpc>
              <a:spcBef>
                <a:spcPts val="0"/>
              </a:spcBef>
              <a:spcAft>
                <a:spcPts val="80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EXPERIMENTAL WORK</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50A410C-6188-4C14-AFDD-BDCDC9B7D5E0}"/>
              </a:ext>
            </a:extLst>
          </p:cNvPr>
          <p:cNvSpPr txBox="1"/>
          <p:nvPr/>
        </p:nvSpPr>
        <p:spPr>
          <a:xfrm>
            <a:off x="1614421" y="1302386"/>
            <a:ext cx="9476508" cy="5390706"/>
          </a:xfrm>
          <a:prstGeom prst="rect">
            <a:avLst/>
          </a:prstGeom>
          <a:noFill/>
        </p:spPr>
        <p:txBody>
          <a:bodyPr wrap="square">
            <a:spAutoFit/>
          </a:bodyPr>
          <a:lstStyle/>
          <a:p>
            <a:pPr marL="0" marR="0" algn="just">
              <a:lnSpc>
                <a:spcPct val="150000"/>
              </a:lnSpc>
              <a:spcBef>
                <a:spcPts val="0"/>
              </a:spcBef>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For an execution of Heuristic Apriori, we taken the data set of 50039 transaction from US based departmental store available at Kaggle. </a:t>
            </a:r>
          </a:p>
          <a:p>
            <a:pPr marL="0" marR="0" algn="just">
              <a:lnSpc>
                <a:spcPct val="150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he data set was first cleaned and processed. As per statistics  described in table 1.</a:t>
            </a:r>
          </a:p>
          <a:p>
            <a:pPr marL="0" marR="0" algn="just">
              <a:lnSpc>
                <a:spcPct val="150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R</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esult is calculated over intel i7 Processor with 16 GB of RAM using python v3.10 over the variable length of data from low to high volume of transaction sets described in Table 1. </a:t>
            </a:r>
          </a:p>
        </p:txBody>
      </p:sp>
    </p:spTree>
    <p:extLst>
      <p:ext uri="{BB962C8B-B14F-4D97-AF65-F5344CB8AC3E}">
        <p14:creationId xmlns:p14="http://schemas.microsoft.com/office/powerpoint/2010/main" val="3784547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AD4B4-E3E9-400F-A623-09480213351F}"/>
              </a:ext>
            </a:extLst>
          </p:cNvPr>
          <p:cNvSpPr txBox="1"/>
          <p:nvPr/>
        </p:nvSpPr>
        <p:spPr>
          <a:xfrm>
            <a:off x="1440872" y="632844"/>
            <a:ext cx="6096000" cy="669542"/>
          </a:xfrm>
          <a:prstGeom prst="rect">
            <a:avLst/>
          </a:prstGeom>
          <a:noFill/>
        </p:spPr>
        <p:txBody>
          <a:bodyPr wrap="square">
            <a:spAutoFit/>
          </a:bodyPr>
          <a:lstStyle/>
          <a:p>
            <a:pPr marR="0" lvl="1">
              <a:lnSpc>
                <a:spcPct val="150000"/>
              </a:lnSpc>
              <a:spcBef>
                <a:spcPts val="0"/>
              </a:spcBef>
              <a:spcAft>
                <a:spcPts val="80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EXPERIMENTAL WORK</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50A410C-6188-4C14-AFDD-BDCDC9B7D5E0}"/>
              </a:ext>
            </a:extLst>
          </p:cNvPr>
          <p:cNvSpPr txBox="1"/>
          <p:nvPr/>
        </p:nvSpPr>
        <p:spPr>
          <a:xfrm>
            <a:off x="1646505" y="1750431"/>
            <a:ext cx="9476508" cy="4547527"/>
          </a:xfrm>
          <a:prstGeom prst="rect">
            <a:avLst/>
          </a:prstGeom>
          <a:noFill/>
        </p:spPr>
        <p:txBody>
          <a:bodyPr wrap="square">
            <a:spAutoFit/>
          </a:bodyPr>
          <a:lstStyle/>
          <a:p>
            <a:pPr marL="0" marR="0" algn="just">
              <a:lnSpc>
                <a:spcPct val="150000"/>
              </a:lnSpc>
              <a:spcBef>
                <a:spcPts val="0"/>
              </a:spcBef>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Hear we take data set in variable length like four Data set(DS) of a departmental store, DS-1with the statistics among one contains 22039 number of Transactions with 4215 number of items , DS-2 contains 15000 No of Transactions with 4089 number of items, DS-3 contains 9000 No of Transactions with 3922 number of items and DS-4 contains 4000 No of Transactions with 3641 number of items as shown in Table-3,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086954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AD4B4-E3E9-400F-A623-09480213351F}"/>
              </a:ext>
            </a:extLst>
          </p:cNvPr>
          <p:cNvSpPr txBox="1"/>
          <p:nvPr/>
        </p:nvSpPr>
        <p:spPr>
          <a:xfrm>
            <a:off x="1828800" y="785244"/>
            <a:ext cx="6096000" cy="523220"/>
          </a:xfrm>
          <a:prstGeom prst="rect">
            <a:avLst/>
          </a:prstGeom>
          <a:noFill/>
        </p:spPr>
        <p:txBody>
          <a:bodyPr wrap="square">
            <a:spAutoFit/>
          </a:bodyPr>
          <a:lstStyle/>
          <a:p>
            <a:r>
              <a:rPr lang="en-US" sz="2800" b="1" i="0" u="none" strike="noStrike" baseline="0" dirty="0">
                <a:solidFill>
                  <a:srgbClr val="000000"/>
                </a:solidFill>
                <a:latin typeface="Times New Roman" panose="02020603050405020304" pitchFamily="18" charset="0"/>
                <a:cs typeface="Times New Roman" panose="02020603050405020304" pitchFamily="18" charset="0"/>
              </a:rPr>
              <a:t>PROPOSED WORK </a:t>
            </a:r>
          </a:p>
        </p:txBody>
      </p:sp>
      <p:graphicFrame>
        <p:nvGraphicFramePr>
          <p:cNvPr id="5" name="Table 4">
            <a:extLst>
              <a:ext uri="{FF2B5EF4-FFF2-40B4-BE49-F238E27FC236}">
                <a16:creationId xmlns:a16="http://schemas.microsoft.com/office/drawing/2014/main" id="{F68EA2A4-2302-4101-ACC3-B0C876B4B766}"/>
              </a:ext>
            </a:extLst>
          </p:cNvPr>
          <p:cNvGraphicFramePr>
            <a:graphicFrameLocks noGrp="1"/>
          </p:cNvGraphicFramePr>
          <p:nvPr>
            <p:extLst>
              <p:ext uri="{D42A27DB-BD31-4B8C-83A1-F6EECF244321}">
                <p14:modId xmlns:p14="http://schemas.microsoft.com/office/powerpoint/2010/main" val="4204221291"/>
              </p:ext>
            </p:extLst>
          </p:nvPr>
        </p:nvGraphicFramePr>
        <p:xfrm>
          <a:off x="1828800" y="1308464"/>
          <a:ext cx="9947563" cy="5079643"/>
        </p:xfrm>
        <a:graphic>
          <a:graphicData uri="http://schemas.openxmlformats.org/drawingml/2006/table">
            <a:tbl>
              <a:tblPr firstRow="1" firstCol="1" bandRow="1"/>
              <a:tblGrid>
                <a:gridCol w="1097791">
                  <a:extLst>
                    <a:ext uri="{9D8B030D-6E8A-4147-A177-3AD203B41FA5}">
                      <a16:colId xmlns:a16="http://schemas.microsoft.com/office/drawing/2014/main" val="1081836340"/>
                    </a:ext>
                  </a:extLst>
                </a:gridCol>
                <a:gridCol w="2484037">
                  <a:extLst>
                    <a:ext uri="{9D8B030D-6E8A-4147-A177-3AD203B41FA5}">
                      <a16:colId xmlns:a16="http://schemas.microsoft.com/office/drawing/2014/main" val="1051313377"/>
                    </a:ext>
                  </a:extLst>
                </a:gridCol>
                <a:gridCol w="1235793">
                  <a:extLst>
                    <a:ext uri="{9D8B030D-6E8A-4147-A177-3AD203B41FA5}">
                      <a16:colId xmlns:a16="http://schemas.microsoft.com/office/drawing/2014/main" val="921439677"/>
                    </a:ext>
                  </a:extLst>
                </a:gridCol>
                <a:gridCol w="1339554">
                  <a:extLst>
                    <a:ext uri="{9D8B030D-6E8A-4147-A177-3AD203B41FA5}">
                      <a16:colId xmlns:a16="http://schemas.microsoft.com/office/drawing/2014/main" val="638940209"/>
                    </a:ext>
                  </a:extLst>
                </a:gridCol>
                <a:gridCol w="1339554">
                  <a:extLst>
                    <a:ext uri="{9D8B030D-6E8A-4147-A177-3AD203B41FA5}">
                      <a16:colId xmlns:a16="http://schemas.microsoft.com/office/drawing/2014/main" val="2868653834"/>
                    </a:ext>
                  </a:extLst>
                </a:gridCol>
                <a:gridCol w="1278336">
                  <a:extLst>
                    <a:ext uri="{9D8B030D-6E8A-4147-A177-3AD203B41FA5}">
                      <a16:colId xmlns:a16="http://schemas.microsoft.com/office/drawing/2014/main" val="520579106"/>
                    </a:ext>
                  </a:extLst>
                </a:gridCol>
                <a:gridCol w="1172498">
                  <a:extLst>
                    <a:ext uri="{9D8B030D-6E8A-4147-A177-3AD203B41FA5}">
                      <a16:colId xmlns:a16="http://schemas.microsoft.com/office/drawing/2014/main" val="4276044682"/>
                    </a:ext>
                  </a:extLst>
                </a:gridCol>
              </a:tblGrid>
              <a:tr h="1672144">
                <a:tc>
                  <a:txBody>
                    <a:bodyPr/>
                    <a:lstStyle/>
                    <a:p>
                      <a:pPr marL="0" marR="0" algn="ctr">
                        <a:lnSpc>
                          <a:spcPct val="107000"/>
                        </a:lnSpc>
                        <a:spcBef>
                          <a:spcPts val="0"/>
                        </a:spcBef>
                        <a:spcAft>
                          <a:spcPts val="0"/>
                        </a:spcAft>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Set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 of Items(</a:t>
                      </a:r>
                      <a:r>
                        <a:rPr lang="en-US" sz="16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600" b="1" baseline="-25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&amp; No of Transactions (</a:t>
                      </a:r>
                      <a:r>
                        <a:rPr lang="en-US" sz="16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Txn</a:t>
                      </a: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Min_Sup() in %age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Execution Time-Apriori (T</a:t>
                      </a:r>
                      <a:r>
                        <a:rPr lang="en-US" sz="1600" b="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in </a:t>
                      </a:r>
                      <a:r>
                        <a:rPr lang="en-US" sz="16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MiliSec</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Execution Time- Heuristic Apriori (T</a:t>
                      </a:r>
                      <a:r>
                        <a:rPr lang="en-US" sz="1600" b="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a:t>
                      </a: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in </a:t>
                      </a:r>
                      <a:r>
                        <a:rPr lang="en-US" sz="16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MiliSec</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Execution Time Difference-(T</a:t>
                      </a:r>
                      <a:r>
                        <a:rPr lang="en-US" sz="1600" b="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en-US" sz="1600" b="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a:t>
                      </a: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600" b="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Execution Rate(%)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235789899"/>
                  </a:ext>
                </a:extLst>
              </a:tr>
              <a:tr h="276929">
                <a:tc rowSpan="3">
                  <a:txBody>
                    <a:bodyPr/>
                    <a:lstStyle/>
                    <a:p>
                      <a:pPr marL="0" marR="0" algn="ctr">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DS-1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rowSpan="3">
                  <a:txBody>
                    <a:bodyPr/>
                    <a:lstStyle/>
                    <a:p>
                      <a:pPr marL="0" marR="0" algn="ctr">
                        <a:lnSpc>
                          <a:spcPct val="107000"/>
                        </a:lnSpc>
                        <a:spcBef>
                          <a:spcPts val="0"/>
                        </a:spcBef>
                        <a:spcAft>
                          <a:spcPts val="0"/>
                        </a:spcAft>
                      </a:pPr>
                      <a:r>
                        <a:rPr lang="en-US" sz="18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Ii</a:t>
                      </a: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=4215 &amp;                                         No of </a:t>
                      </a:r>
                      <a:r>
                        <a:rPr lang="en-US" sz="18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Txn</a:t>
                      </a: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=22039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6159.35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2775.66</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3383.69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Calibri" panose="020F0502020204030204" pitchFamily="34" charset="0"/>
                          <a:ea typeface="Times New Roman" panose="02020603050405020304" pitchFamily="18" charset="0"/>
                          <a:cs typeface="Times New Roman" panose="02020603050405020304" pitchFamily="18" charset="0"/>
                        </a:rPr>
                        <a:t>55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1282173"/>
                  </a:ext>
                </a:extLst>
              </a:tr>
              <a:tr h="273286">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2755.11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2727.01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28.10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2546623"/>
                  </a:ext>
                </a:extLst>
              </a:tr>
              <a:tr h="286950">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2712.58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2704.26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8.32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7016529"/>
                  </a:ext>
                </a:extLst>
              </a:tr>
              <a:tr h="286950">
                <a:tc rowSpan="3">
                  <a:txBody>
                    <a:bodyPr/>
                    <a:lstStyle/>
                    <a:p>
                      <a:pPr marL="0" marR="0" algn="ctr">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DS-2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rowSpan="3">
                  <a:txBody>
                    <a:bodyPr/>
                    <a:lstStyle/>
                    <a:p>
                      <a:pPr marL="0" marR="0" algn="ctr">
                        <a:lnSpc>
                          <a:spcPct val="107000"/>
                        </a:lnSpc>
                        <a:spcBef>
                          <a:spcPts val="0"/>
                        </a:spcBef>
                        <a:spcAft>
                          <a:spcPts val="0"/>
                        </a:spcAft>
                      </a:pPr>
                      <a:r>
                        <a:rPr lang="en-US" sz="18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Ii</a:t>
                      </a: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=4089 &amp;                                        No of </a:t>
                      </a:r>
                      <a:r>
                        <a:rPr lang="en-US" sz="18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Txn</a:t>
                      </a: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=15000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4084.97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1839.23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2245.74</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lnSpc>
                          <a:spcPct val="107000"/>
                        </a:lnSpc>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55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3555832"/>
                  </a:ext>
                </a:extLst>
              </a:tr>
              <a:tr h="273286">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1894.01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1798.01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96.00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lnSpc>
                          <a:spcPct val="107000"/>
                        </a:lnSpc>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7800539"/>
                  </a:ext>
                </a:extLst>
              </a:tr>
              <a:tr h="286950">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1813.72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1724.03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89.69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lnSpc>
                          <a:spcPct val="107000"/>
                        </a:lnSpc>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2298843"/>
                  </a:ext>
                </a:extLst>
              </a:tr>
              <a:tr h="286950">
                <a:tc rowSpan="3">
                  <a:txBody>
                    <a:bodyPr/>
                    <a:lstStyle/>
                    <a:p>
                      <a:pPr marL="0" marR="0" algn="ctr">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DS-3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rowSpan="3">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Ii=3922 &amp;                                          No of Txn=9000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2192.19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1071.73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1120.45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51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3974113"/>
                  </a:ext>
                </a:extLst>
              </a:tr>
              <a:tr h="273286">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1406.40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1016.98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389.43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28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9415294"/>
                  </a:ext>
                </a:extLst>
              </a:tr>
              <a:tr h="286950">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1018.70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961.43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57.27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7652217"/>
                  </a:ext>
                </a:extLst>
              </a:tr>
              <a:tr h="286950">
                <a:tc rowSpan="3">
                  <a:txBody>
                    <a:bodyPr/>
                    <a:lstStyle/>
                    <a:p>
                      <a:pPr marL="0" marR="0" algn="ctr">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DS-4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rowSpan="3">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Ii=3641 &amp;                                         No of Txn=4000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888.25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418.88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469.36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lnSpc>
                          <a:spcPct val="107000"/>
                        </a:lnSpc>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53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6410692"/>
                  </a:ext>
                </a:extLst>
              </a:tr>
              <a:tr h="273286">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422.41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418.15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lnSpc>
                          <a:spcPct val="107000"/>
                        </a:lnSpc>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6917790"/>
                  </a:ext>
                </a:extLst>
              </a:tr>
              <a:tr h="286950">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411.43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406.46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07000"/>
                        </a:lnSpc>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4.97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lnSpc>
                          <a:spcPct val="107000"/>
                        </a:lnSpc>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671280"/>
                  </a:ext>
                </a:extLst>
              </a:tr>
            </a:tbl>
          </a:graphicData>
        </a:graphic>
      </p:graphicFrame>
      <p:sp>
        <p:nvSpPr>
          <p:cNvPr id="7" name="TextBox 6">
            <a:extLst>
              <a:ext uri="{FF2B5EF4-FFF2-40B4-BE49-F238E27FC236}">
                <a16:creationId xmlns:a16="http://schemas.microsoft.com/office/drawing/2014/main" id="{35B0CF16-C6CD-4087-BEB0-65F9A0DCDE24}"/>
              </a:ext>
            </a:extLst>
          </p:cNvPr>
          <p:cNvSpPr txBox="1"/>
          <p:nvPr/>
        </p:nvSpPr>
        <p:spPr>
          <a:xfrm>
            <a:off x="3463636" y="6388107"/>
            <a:ext cx="6899564" cy="369332"/>
          </a:xfrm>
          <a:prstGeom prst="rect">
            <a:avLst/>
          </a:prstGeom>
          <a:noFill/>
        </p:spPr>
        <p:txBody>
          <a:bodyPr wrap="square">
            <a:spAutoFit/>
          </a:bodyPr>
          <a:lstStyle/>
          <a:p>
            <a:r>
              <a:rPr lang="en-US" sz="1800" b="1" dirty="0">
                <a:effectLst/>
                <a:latin typeface="Calibri" panose="020F0502020204030204" pitchFamily="34" charset="0"/>
                <a:ea typeface="Calibri" panose="020F0502020204030204" pitchFamily="34" charset="0"/>
                <a:cs typeface="Times New Roman" panose="02020603050405020304" pitchFamily="18" charset="0"/>
              </a:rPr>
              <a:t>Table-1: Apriori v/s Heuristic Apriori as per rate of Execution Time</a:t>
            </a:r>
            <a:endParaRPr lang="en-US" dirty="0"/>
          </a:p>
        </p:txBody>
      </p:sp>
    </p:spTree>
    <p:extLst>
      <p:ext uri="{BB962C8B-B14F-4D97-AF65-F5344CB8AC3E}">
        <p14:creationId xmlns:p14="http://schemas.microsoft.com/office/powerpoint/2010/main" val="291711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AD4B4-E3E9-400F-A623-09480213351F}"/>
              </a:ext>
            </a:extLst>
          </p:cNvPr>
          <p:cNvSpPr txBox="1"/>
          <p:nvPr/>
        </p:nvSpPr>
        <p:spPr>
          <a:xfrm>
            <a:off x="1828800" y="785244"/>
            <a:ext cx="6096000" cy="1231106"/>
          </a:xfrm>
          <a:prstGeom prst="rect">
            <a:avLst/>
          </a:prstGeom>
          <a:noFill/>
        </p:spPr>
        <p:txBody>
          <a:bodyPr wrap="square">
            <a:spAutoFit/>
          </a:bodyPr>
          <a:lstStyle/>
          <a:p>
            <a:r>
              <a:rPr lang="en-US" sz="2800" b="1" i="0" u="none" strike="noStrike" baseline="0" dirty="0">
                <a:solidFill>
                  <a:srgbClr val="000000"/>
                </a:solidFill>
                <a:latin typeface="Times New Roman" panose="02020603050405020304" pitchFamily="18" charset="0"/>
                <a:cs typeface="Times New Roman" panose="02020603050405020304" pitchFamily="18" charset="0"/>
              </a:rPr>
              <a:t>PROPOSED WORK</a:t>
            </a:r>
          </a:p>
          <a:p>
            <a:r>
              <a:rPr lang="en-US" sz="1800" b="1" dirty="0">
                <a:solidFill>
                  <a:srgbClr val="0070C0"/>
                </a:solidFill>
                <a:effectLst/>
                <a:latin typeface="Times-Bold"/>
                <a:ea typeface="Calibri" panose="020F0502020204030204" pitchFamily="34" charset="0"/>
                <a:cs typeface="Times-Bold"/>
              </a:rPr>
              <a:t>Result Analysis of Heuristic Apriori</a:t>
            </a:r>
            <a:endParaRPr lang="en-US" sz="1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2800" b="1" i="0" u="none" strike="noStrike" baseline="0" dirty="0">
                <a:solidFill>
                  <a:srgbClr val="000000"/>
                </a:solidFill>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47597795-5AE1-4F78-A5D0-4AFEEEE8C25A}"/>
              </a:ext>
            </a:extLst>
          </p:cNvPr>
          <p:cNvSpPr txBox="1"/>
          <p:nvPr/>
        </p:nvSpPr>
        <p:spPr>
          <a:xfrm>
            <a:off x="886689" y="1824335"/>
            <a:ext cx="10418619" cy="4401205"/>
          </a:xfrm>
          <a:prstGeom prst="rect">
            <a:avLst/>
          </a:prstGeom>
          <a:noFill/>
        </p:spPr>
        <p:txBody>
          <a:bodyPr wrap="square">
            <a:spAutoFit/>
          </a:bodyPr>
          <a:lstStyle/>
          <a:p>
            <a:pPr algn="just"/>
            <a:r>
              <a:rPr lang="en-US" sz="2800" dirty="0">
                <a:effectLst/>
                <a:latin typeface="Times New Roman" panose="02020603050405020304" pitchFamily="18" charset="0"/>
                <a:ea typeface="Calibri" panose="020F0502020204030204" pitchFamily="34" charset="0"/>
              </a:rPr>
              <a:t>Now, as per the statistics, as shown in Table-4.2. We can easily be find out that in data set DS-1 which contains total number of 22039 transactions with 4215 number of items </a:t>
            </a:r>
            <a:r>
              <a:rPr lang="en-US" sz="2800" dirty="0">
                <a:effectLst/>
                <a:latin typeface="Times-Roman"/>
                <a:ea typeface="Calibri" panose="020F0502020204030204" pitchFamily="34" charset="0"/>
                <a:cs typeface="Times-Roman"/>
              </a:rPr>
              <a:t>Now we execute both like Apriori and Heuristic Apriori with the data set DS-1with minimum support value in the range of 30%, 50% and 70% and get execution time for Apriori and Heuristic Apriori is 6159.35 and 3383.67, 2755.10 and 2727.00 &amp; 2712.58 and 2704.26 Millisecond respectively. </a:t>
            </a:r>
          </a:p>
          <a:p>
            <a:pPr algn="just"/>
            <a:endParaRPr lang="en-US" sz="2800" dirty="0">
              <a:latin typeface="Times-Roman"/>
              <a:ea typeface="Calibri" panose="020F0502020204030204" pitchFamily="34" charset="0"/>
              <a:cs typeface="Times-Roman"/>
            </a:endParaRPr>
          </a:p>
          <a:p>
            <a:pPr algn="just"/>
            <a:r>
              <a:rPr lang="en-US" sz="2800" b="1" dirty="0">
                <a:solidFill>
                  <a:srgbClr val="0070C0"/>
                </a:solidFill>
                <a:effectLst/>
                <a:latin typeface="Times-Roman"/>
                <a:ea typeface="Calibri" panose="020F0502020204030204" pitchFamily="34" charset="0"/>
                <a:cs typeface="Times-Roman"/>
              </a:rPr>
              <a:t>It can easily be observed that for Min_Supp (30%) Heuristic Apriori is 55% faster than </a:t>
            </a:r>
            <a:r>
              <a:rPr lang="en-US" sz="2800" b="1" dirty="0" err="1">
                <a:solidFill>
                  <a:srgbClr val="0070C0"/>
                </a:solidFill>
                <a:effectLst/>
                <a:latin typeface="Times-Roman"/>
                <a:ea typeface="Calibri" panose="020F0502020204030204" pitchFamily="34" charset="0"/>
                <a:cs typeface="Times-Roman"/>
              </a:rPr>
              <a:t>Apriori</a:t>
            </a:r>
            <a:r>
              <a:rPr lang="en-US" sz="2800" b="1" dirty="0">
                <a:solidFill>
                  <a:srgbClr val="0070C0"/>
                </a:solidFill>
                <a:effectLst/>
                <a:latin typeface="Times-Roman"/>
                <a:ea typeface="Calibri" panose="020F0502020204030204" pitchFamily="34" charset="0"/>
                <a:cs typeface="Times-Roman"/>
              </a:rPr>
              <a:t>.</a:t>
            </a:r>
            <a:endParaRPr lang="en-US" sz="2800" b="1" dirty="0">
              <a:solidFill>
                <a:srgbClr val="0070C0"/>
              </a:solidFill>
            </a:endParaRPr>
          </a:p>
        </p:txBody>
      </p:sp>
    </p:spTree>
    <p:extLst>
      <p:ext uri="{BB962C8B-B14F-4D97-AF65-F5344CB8AC3E}">
        <p14:creationId xmlns:p14="http://schemas.microsoft.com/office/powerpoint/2010/main" val="2638648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AD4B4-E3E9-400F-A623-09480213351F}"/>
              </a:ext>
            </a:extLst>
          </p:cNvPr>
          <p:cNvSpPr txBox="1"/>
          <p:nvPr/>
        </p:nvSpPr>
        <p:spPr>
          <a:xfrm>
            <a:off x="1828800" y="785244"/>
            <a:ext cx="6096000" cy="523220"/>
          </a:xfrm>
          <a:prstGeom prst="rect">
            <a:avLst/>
          </a:prstGeom>
          <a:noFill/>
        </p:spPr>
        <p:txBody>
          <a:bodyPr wrap="square">
            <a:spAutoFit/>
          </a:bodyPr>
          <a:lstStyle/>
          <a:p>
            <a:r>
              <a:rPr lang="en-US" sz="2800" b="1" i="0" u="none" strike="noStrike" baseline="0" dirty="0">
                <a:solidFill>
                  <a:srgbClr val="000000"/>
                </a:solidFill>
                <a:latin typeface="Times New Roman" panose="02020603050405020304" pitchFamily="18" charset="0"/>
                <a:cs typeface="Times New Roman" panose="02020603050405020304" pitchFamily="18" charset="0"/>
              </a:rPr>
              <a:t>Performance of DS-2</a:t>
            </a:r>
          </a:p>
        </p:txBody>
      </p:sp>
      <p:sp>
        <p:nvSpPr>
          <p:cNvPr id="4" name="TextBox 3">
            <a:extLst>
              <a:ext uri="{FF2B5EF4-FFF2-40B4-BE49-F238E27FC236}">
                <a16:creationId xmlns:a16="http://schemas.microsoft.com/office/drawing/2014/main" id="{3B3B5D91-2920-4DB1-835A-251F5197A9E0}"/>
              </a:ext>
            </a:extLst>
          </p:cNvPr>
          <p:cNvSpPr txBox="1"/>
          <p:nvPr/>
        </p:nvSpPr>
        <p:spPr>
          <a:xfrm>
            <a:off x="1191490" y="1644594"/>
            <a:ext cx="10141527" cy="3416320"/>
          </a:xfrm>
          <a:prstGeom prst="rect">
            <a:avLst/>
          </a:prstGeom>
          <a:noFill/>
        </p:spPr>
        <p:txBody>
          <a:bodyPr wrap="square">
            <a:spAutoFit/>
          </a:bodyPr>
          <a:lstStyle/>
          <a:p>
            <a:pPr algn="just"/>
            <a:r>
              <a:rPr lang="en-GB" sz="2400" dirty="0">
                <a:effectLst/>
                <a:latin typeface="Times New Roman" panose="02020603050405020304" pitchFamily="18" charset="0"/>
                <a:ea typeface="Times New Roman" panose="02020603050405020304" pitchFamily="18" charset="0"/>
              </a:rPr>
              <a:t>for data set DS-2 which contains total number of </a:t>
            </a:r>
            <a:r>
              <a:rPr lang="en-US" sz="2400" dirty="0">
                <a:solidFill>
                  <a:srgbClr val="000000"/>
                </a:solidFill>
                <a:effectLst/>
                <a:latin typeface="Times New Roman" panose="02020603050405020304" pitchFamily="18" charset="0"/>
                <a:ea typeface="Times New Roman" panose="02020603050405020304" pitchFamily="18" charset="0"/>
              </a:rPr>
              <a:t>15000 </a:t>
            </a:r>
            <a:r>
              <a:rPr lang="en-GB" sz="2400" dirty="0">
                <a:effectLst/>
                <a:latin typeface="Times New Roman" panose="02020603050405020304" pitchFamily="18" charset="0"/>
                <a:ea typeface="Times New Roman" panose="02020603050405020304" pitchFamily="18" charset="0"/>
              </a:rPr>
              <a:t>transactions with </a:t>
            </a:r>
            <a:r>
              <a:rPr lang="en-US" sz="2400" dirty="0">
                <a:solidFill>
                  <a:srgbClr val="000000"/>
                </a:solidFill>
                <a:effectLst/>
                <a:latin typeface="Times New Roman" panose="02020603050405020304" pitchFamily="18" charset="0"/>
                <a:ea typeface="Times New Roman" panose="02020603050405020304" pitchFamily="18" charset="0"/>
              </a:rPr>
              <a:t>4089 </a:t>
            </a:r>
            <a:r>
              <a:rPr lang="en-GB" sz="2400" dirty="0">
                <a:effectLst/>
                <a:latin typeface="Times New Roman" panose="02020603050405020304" pitchFamily="18" charset="0"/>
                <a:ea typeface="Times New Roman" panose="02020603050405020304" pitchFamily="18" charset="0"/>
              </a:rPr>
              <a:t>number of items. Now we execute both like Apriori and Heuristic Apriori with the data set DS-1with minimum support value in the range of 30%, 50% and 70% and get execution time for Apriori and Heuristic Apriori is </a:t>
            </a:r>
            <a:r>
              <a:rPr lang="en-US" sz="2400" dirty="0">
                <a:solidFill>
                  <a:srgbClr val="000000"/>
                </a:solidFill>
                <a:effectLst/>
                <a:latin typeface="Times New Roman" panose="02020603050405020304" pitchFamily="18" charset="0"/>
                <a:ea typeface="Times New Roman" panose="02020603050405020304" pitchFamily="18" charset="0"/>
              </a:rPr>
              <a:t>4084.97 </a:t>
            </a:r>
            <a:r>
              <a:rPr lang="en-GB" sz="2400" dirty="0">
                <a:effectLst/>
                <a:latin typeface="Times New Roman" panose="02020603050405020304" pitchFamily="18" charset="0"/>
                <a:ea typeface="Times New Roman" panose="02020603050405020304" pitchFamily="18" charset="0"/>
              </a:rPr>
              <a:t>and </a:t>
            </a:r>
            <a:r>
              <a:rPr lang="en-US" sz="2400" dirty="0">
                <a:solidFill>
                  <a:srgbClr val="000000"/>
                </a:solidFill>
                <a:effectLst/>
                <a:latin typeface="Times New Roman" panose="02020603050405020304" pitchFamily="18" charset="0"/>
                <a:ea typeface="Times New Roman" panose="02020603050405020304" pitchFamily="18" charset="0"/>
              </a:rPr>
              <a:t>1839.22</a:t>
            </a:r>
            <a:r>
              <a:rPr lang="en-GB" sz="2400" dirty="0">
                <a:effectLst/>
                <a:latin typeface="Times New Roman" panose="02020603050405020304" pitchFamily="18" charset="0"/>
                <a:ea typeface="Times New Roman" panose="02020603050405020304" pitchFamily="18" charset="0"/>
              </a:rPr>
              <a:t>, </a:t>
            </a:r>
            <a:r>
              <a:rPr lang="en-US" sz="2400" dirty="0">
                <a:solidFill>
                  <a:srgbClr val="000000"/>
                </a:solidFill>
                <a:effectLst/>
                <a:latin typeface="Times New Roman" panose="02020603050405020304" pitchFamily="18" charset="0"/>
                <a:ea typeface="Times New Roman" panose="02020603050405020304" pitchFamily="18" charset="0"/>
              </a:rPr>
              <a:t>1894.00</a:t>
            </a:r>
            <a:r>
              <a:rPr lang="en-GB" sz="2400" dirty="0">
                <a:effectLst/>
                <a:latin typeface="Times New Roman" panose="02020603050405020304" pitchFamily="18" charset="0"/>
                <a:ea typeface="Times New Roman" panose="02020603050405020304" pitchFamily="18" charset="0"/>
              </a:rPr>
              <a:t> and </a:t>
            </a:r>
            <a:r>
              <a:rPr lang="en-US" sz="2400" dirty="0">
                <a:solidFill>
                  <a:srgbClr val="000000"/>
                </a:solidFill>
                <a:effectLst/>
                <a:latin typeface="Times New Roman" panose="02020603050405020304" pitchFamily="18" charset="0"/>
                <a:ea typeface="Times New Roman" panose="02020603050405020304" pitchFamily="18" charset="0"/>
              </a:rPr>
              <a:t>1798.01</a:t>
            </a:r>
            <a:r>
              <a:rPr lang="en-GB" sz="2400" dirty="0">
                <a:effectLst/>
                <a:latin typeface="Times New Roman" panose="02020603050405020304" pitchFamily="18" charset="0"/>
                <a:ea typeface="Times New Roman" panose="02020603050405020304" pitchFamily="18" charset="0"/>
              </a:rPr>
              <a:t>&amp; </a:t>
            </a:r>
            <a:r>
              <a:rPr lang="en-US" sz="2400" dirty="0">
                <a:solidFill>
                  <a:srgbClr val="000000"/>
                </a:solidFill>
                <a:effectLst/>
                <a:latin typeface="Times New Roman" panose="02020603050405020304" pitchFamily="18" charset="0"/>
                <a:ea typeface="Times New Roman" panose="02020603050405020304" pitchFamily="18" charset="0"/>
              </a:rPr>
              <a:t>1813.72 </a:t>
            </a:r>
            <a:r>
              <a:rPr lang="en-GB" sz="2400" dirty="0">
                <a:effectLst/>
                <a:latin typeface="Times New Roman" panose="02020603050405020304" pitchFamily="18" charset="0"/>
                <a:ea typeface="Times New Roman" panose="02020603050405020304" pitchFamily="18" charset="0"/>
              </a:rPr>
              <a:t>and </a:t>
            </a:r>
            <a:r>
              <a:rPr lang="en-US" sz="2400" dirty="0">
                <a:solidFill>
                  <a:srgbClr val="000000"/>
                </a:solidFill>
                <a:effectLst/>
                <a:latin typeface="Times New Roman" panose="02020603050405020304" pitchFamily="18" charset="0"/>
                <a:ea typeface="Times New Roman" panose="02020603050405020304" pitchFamily="18" charset="0"/>
              </a:rPr>
              <a:t>1724.03 </a:t>
            </a:r>
            <a:r>
              <a:rPr lang="en-GB" sz="2400" dirty="0">
                <a:effectLst/>
                <a:latin typeface="Times New Roman" panose="02020603050405020304" pitchFamily="18" charset="0"/>
                <a:ea typeface="Times New Roman" panose="02020603050405020304" pitchFamily="18" charset="0"/>
              </a:rPr>
              <a:t>Millisecond respectively. </a:t>
            </a:r>
          </a:p>
          <a:p>
            <a:pPr algn="just"/>
            <a:endParaRPr lang="en-GB" sz="2400" dirty="0">
              <a:latin typeface="Times New Roman" panose="02020603050405020304" pitchFamily="18" charset="0"/>
              <a:ea typeface="Times New Roman" panose="02020603050405020304" pitchFamily="18" charset="0"/>
            </a:endParaRPr>
          </a:p>
          <a:p>
            <a:pPr algn="just"/>
            <a:r>
              <a:rPr lang="en-GB" sz="2400" dirty="0">
                <a:effectLst/>
                <a:latin typeface="Times New Roman" panose="02020603050405020304" pitchFamily="18" charset="0"/>
                <a:ea typeface="Times New Roman" panose="02020603050405020304" pitchFamily="18" charset="0"/>
              </a:rPr>
              <a:t>It can easily be observed that for Min_Supp (30%) Heuristic Apriori is again 55% faster than Apriori, for Min_Supp (50%) Heuristic Apriori is 5% faster than Apriori, for Min_Supp (70%) Heuristic Apriori is again 5% faster than Apriori.</a:t>
            </a:r>
            <a:endParaRPr lang="en-US" sz="2400" dirty="0"/>
          </a:p>
        </p:txBody>
      </p:sp>
    </p:spTree>
    <p:extLst>
      <p:ext uri="{BB962C8B-B14F-4D97-AF65-F5344CB8AC3E}">
        <p14:creationId xmlns:p14="http://schemas.microsoft.com/office/powerpoint/2010/main" val="4231994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2FDFDB-18A7-4EA1-BC16-B6D24BA77494}"/>
              </a:ext>
            </a:extLst>
          </p:cNvPr>
          <p:cNvSpPr txBox="1"/>
          <p:nvPr/>
        </p:nvSpPr>
        <p:spPr>
          <a:xfrm>
            <a:off x="1371599" y="1694636"/>
            <a:ext cx="9310255" cy="5121723"/>
          </a:xfrm>
          <a:prstGeom prst="rect">
            <a:avLst/>
          </a:prstGeom>
          <a:noFill/>
        </p:spPr>
        <p:txBody>
          <a:bodyPr wrap="square">
            <a:spAutoFit/>
          </a:bodyPr>
          <a:lstStyle/>
          <a:p>
            <a:pPr marL="0" marR="0" algn="just">
              <a:lnSpc>
                <a:spcPct val="150000"/>
              </a:lnSpc>
              <a:spcBef>
                <a:spcPts val="0"/>
              </a:spcBef>
              <a:spcAft>
                <a:spcPts val="800"/>
              </a:spcAft>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for data set DS-3 which contains total number of 9000 transactions with 3932 number of items, with minimum support value of 30%, 50% and 70%, get execution time for Apriori and Heuristic Apriori is 2192.18 and 1406.40, 1018.70 and 1071.73 &amp; 1016.97 and 981.43 Millisecond respectively.</a:t>
            </a:r>
          </a:p>
          <a:p>
            <a:pPr marL="0" marR="0" algn="just">
              <a:lnSpc>
                <a:spcPct val="150000"/>
              </a:lnSpc>
              <a:spcBef>
                <a:spcPts val="0"/>
              </a:spcBef>
              <a:spcAft>
                <a:spcPts val="800"/>
              </a:spcAft>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24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Which predict observations for Min_Supp (30%) Heuristic Apriori is again 51% fasters than Apriori, for Min_Supp (50%) Heuristic Apriori is 28% faster than Apriori, for Min_Supp (70%) Heuristic Apriori is again 4% faster than Apriori as shown in figure-4.7.</a:t>
            </a:r>
            <a:endParaRPr lang="en-US"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5B59BC4-D97A-4823-AF1E-F0AB5C536C4B}"/>
              </a:ext>
            </a:extLst>
          </p:cNvPr>
          <p:cNvSpPr txBox="1"/>
          <p:nvPr/>
        </p:nvSpPr>
        <p:spPr>
          <a:xfrm>
            <a:off x="1898072" y="840571"/>
            <a:ext cx="6096000" cy="523220"/>
          </a:xfrm>
          <a:prstGeom prst="rect">
            <a:avLst/>
          </a:prstGeom>
          <a:noFill/>
        </p:spPr>
        <p:txBody>
          <a:bodyPr wrap="square">
            <a:spAutoFit/>
          </a:bodyPr>
          <a:lstStyle/>
          <a:p>
            <a:r>
              <a:rPr lang="en-US" sz="2800" b="1" dirty="0">
                <a:solidFill>
                  <a:srgbClr val="000000"/>
                </a:solidFill>
                <a:latin typeface="Times New Roman" panose="02020603050405020304" pitchFamily="18" charset="0"/>
                <a:cs typeface="Times New Roman" panose="02020603050405020304" pitchFamily="18" charset="0"/>
              </a:rPr>
              <a:t>Performance of DS-3</a:t>
            </a:r>
          </a:p>
        </p:txBody>
      </p:sp>
    </p:spTree>
    <p:extLst>
      <p:ext uri="{BB962C8B-B14F-4D97-AF65-F5344CB8AC3E}">
        <p14:creationId xmlns:p14="http://schemas.microsoft.com/office/powerpoint/2010/main" val="2144493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46BC12-6586-4F9E-9158-41C20123DBAE}"/>
              </a:ext>
            </a:extLst>
          </p:cNvPr>
          <p:cNvSpPr txBox="1"/>
          <p:nvPr/>
        </p:nvSpPr>
        <p:spPr>
          <a:xfrm>
            <a:off x="1503218" y="1472964"/>
            <a:ext cx="9434946" cy="5121723"/>
          </a:xfrm>
          <a:prstGeom prst="rect">
            <a:avLst/>
          </a:prstGeom>
          <a:noFill/>
        </p:spPr>
        <p:txBody>
          <a:bodyPr wrap="square">
            <a:spAutoFit/>
          </a:bodyPr>
          <a:lstStyle/>
          <a:p>
            <a:pPr marL="0" marR="0" algn="just">
              <a:lnSpc>
                <a:spcPct val="150000"/>
              </a:lnSpc>
              <a:spcBef>
                <a:spcPts val="0"/>
              </a:spcBef>
              <a:spcAft>
                <a:spcPts val="800"/>
              </a:spcAft>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As shown in figure-4.8, DS-4 which contains total number of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4000 </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transactions with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3641 </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number of items, with minimum support value of 30%, 50% and 70%, get execution time for Apriori and Heuristic Apriori is 888.24 and 422.41, 411.42 and 418.88 &amp; 418.15 and 406.45 Millisecond respectively. </a:t>
            </a:r>
          </a:p>
          <a:p>
            <a:pPr marL="0" marR="0" algn="just">
              <a:lnSpc>
                <a:spcPct val="150000"/>
              </a:lnSpc>
              <a:spcBef>
                <a:spcPts val="0"/>
              </a:spcBef>
              <a:spcAft>
                <a:spcPts val="800"/>
              </a:spcAft>
            </a:pPr>
            <a:r>
              <a:rPr lang="en-GB" sz="24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Which predict observations for Min_Supp (30%) Heuristic Apriori is again 51% faster than Apriori, for Min_Supp (50%) Heuristic Apriori is 28% faster than Apriori, for Min_Supp (70%) Heuristic Apriori is again 4% faster than Apriori.</a:t>
            </a:r>
            <a:endParaRPr lang="en-US"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3A39668-38FB-40FF-BB7E-1870ABA8B126}"/>
              </a:ext>
            </a:extLst>
          </p:cNvPr>
          <p:cNvSpPr txBox="1"/>
          <p:nvPr/>
        </p:nvSpPr>
        <p:spPr>
          <a:xfrm>
            <a:off x="1939636" y="840570"/>
            <a:ext cx="6096000" cy="523220"/>
          </a:xfrm>
          <a:prstGeom prst="rect">
            <a:avLst/>
          </a:prstGeom>
          <a:noFill/>
        </p:spPr>
        <p:txBody>
          <a:bodyPr wrap="square">
            <a:spAutoFit/>
          </a:bodyPr>
          <a:lstStyle/>
          <a:p>
            <a:r>
              <a:rPr lang="en-US" sz="2800" b="1" dirty="0">
                <a:solidFill>
                  <a:srgbClr val="000000"/>
                </a:solidFill>
                <a:latin typeface="Times New Roman" panose="02020603050405020304" pitchFamily="18" charset="0"/>
                <a:cs typeface="Times New Roman" panose="02020603050405020304" pitchFamily="18" charset="0"/>
              </a:rPr>
              <a:t>Performance of DS-4</a:t>
            </a:r>
          </a:p>
        </p:txBody>
      </p:sp>
    </p:spTree>
    <p:extLst>
      <p:ext uri="{BB962C8B-B14F-4D97-AF65-F5344CB8AC3E}">
        <p14:creationId xmlns:p14="http://schemas.microsoft.com/office/powerpoint/2010/main" val="1481358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B7BEAF-404E-4178-8A8A-855F6E19DDC8}"/>
              </a:ext>
            </a:extLst>
          </p:cNvPr>
          <p:cNvSpPr txBox="1"/>
          <p:nvPr/>
        </p:nvSpPr>
        <p:spPr>
          <a:xfrm>
            <a:off x="1717963" y="272534"/>
            <a:ext cx="6096000" cy="523220"/>
          </a:xfrm>
          <a:prstGeom prst="rect">
            <a:avLst/>
          </a:prstGeom>
          <a:noFill/>
        </p:spPr>
        <p:txBody>
          <a:bodyPr wrap="square">
            <a:spAutoFit/>
          </a:bodyPr>
          <a:lstStyle/>
          <a:p>
            <a:r>
              <a:rPr lang="en-US" sz="2800" b="1" dirty="0">
                <a:solidFill>
                  <a:srgbClr val="000000"/>
                </a:solidFill>
                <a:latin typeface="Times New Roman" panose="02020603050405020304" pitchFamily="18" charset="0"/>
                <a:cs typeface="Times New Roman" panose="02020603050405020304" pitchFamily="18" charset="0"/>
              </a:rPr>
              <a:t>CONCLUSION</a:t>
            </a:r>
            <a:r>
              <a:rPr lang="en-US" sz="1800" b="0" i="0" u="none" strike="noStrike" baseline="0" dirty="0">
                <a:solidFill>
                  <a:srgbClr val="000000"/>
                </a:solidFill>
              </a:rPr>
              <a:t> </a:t>
            </a:r>
            <a:endParaRPr lang="en-US" dirty="0"/>
          </a:p>
        </p:txBody>
      </p:sp>
      <p:sp>
        <p:nvSpPr>
          <p:cNvPr id="5" name="TextBox 4">
            <a:extLst>
              <a:ext uri="{FF2B5EF4-FFF2-40B4-BE49-F238E27FC236}">
                <a16:creationId xmlns:a16="http://schemas.microsoft.com/office/drawing/2014/main" id="{0162F936-FB9B-43F1-8A02-216A52236776}"/>
              </a:ext>
            </a:extLst>
          </p:cNvPr>
          <p:cNvSpPr txBox="1"/>
          <p:nvPr/>
        </p:nvSpPr>
        <p:spPr>
          <a:xfrm>
            <a:off x="1717963" y="785337"/>
            <a:ext cx="9809018" cy="1569660"/>
          </a:xfrm>
          <a:prstGeom prst="rect">
            <a:avLst/>
          </a:prstGeom>
          <a:noFill/>
        </p:spPr>
        <p:txBody>
          <a:bodyPr wrap="square">
            <a:spAutoFit/>
          </a:bodyPr>
          <a:lstStyle/>
          <a:p>
            <a:pPr algn="just"/>
            <a:r>
              <a:rPr lang="en-US" sz="2400" b="0" i="0" u="none" strike="noStrike" baseline="0" dirty="0">
                <a:solidFill>
                  <a:srgbClr val="000000"/>
                </a:solidFill>
                <a:latin typeface="Times New Roman" panose="02020603050405020304" pitchFamily="18" charset="0"/>
              </a:rPr>
              <a:t>we conclude to enhance the execution rate by reducing the number of scanning of transactions by eliminating such iterations which have items greater than maximum number of items in any single transaction in the data set define as MAX (SUM). </a:t>
            </a:r>
            <a:endParaRPr lang="en-US" sz="2400" dirty="0"/>
          </a:p>
        </p:txBody>
      </p:sp>
      <p:sp>
        <p:nvSpPr>
          <p:cNvPr id="7" name="TextBox 6">
            <a:extLst>
              <a:ext uri="{FF2B5EF4-FFF2-40B4-BE49-F238E27FC236}">
                <a16:creationId xmlns:a16="http://schemas.microsoft.com/office/drawing/2014/main" id="{38181F16-2815-4FD9-9B12-1B8E90FEDF7F}"/>
              </a:ext>
            </a:extLst>
          </p:cNvPr>
          <p:cNvSpPr txBox="1"/>
          <p:nvPr/>
        </p:nvSpPr>
        <p:spPr>
          <a:xfrm>
            <a:off x="1717963" y="2498468"/>
            <a:ext cx="9809017" cy="4154984"/>
          </a:xfrm>
          <a:prstGeom prst="rect">
            <a:avLst/>
          </a:prstGeom>
          <a:noFill/>
        </p:spPr>
        <p:txBody>
          <a:bodyPr wrap="square">
            <a:spAutoFit/>
          </a:bodyPr>
          <a:lstStyle/>
          <a:p>
            <a:pPr algn="just"/>
            <a:r>
              <a:rPr lang="en-US" sz="2400" dirty="0">
                <a:solidFill>
                  <a:srgbClr val="000000"/>
                </a:solidFill>
                <a:latin typeface="Times New Roman" panose="02020603050405020304" pitchFamily="18" charset="0"/>
              </a:rPr>
              <a:t>As per the statistics from execution state that Heuristic Apriori is faster 55% &amp; 1% then Apriori for Min_Supp(30) &amp; Min_Supp(50) in DS-1 as shown in Figure-4.5, </a:t>
            </a:r>
          </a:p>
          <a:p>
            <a:pPr algn="just"/>
            <a:endParaRPr lang="en-US" sz="2400"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and 55%, 5% &amp; 5% faster for Min_Supp(30), Min_Supp(50) &amp; Min_Supp(70) in DS-2 as shown in Figure-4.6, </a:t>
            </a:r>
          </a:p>
          <a:p>
            <a:pPr algn="just"/>
            <a:endParaRPr lang="en-US" sz="2400"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and 51%, 28% &amp; 4% faster for Min_Supp(30), Min_Supp(50) &amp; Min_Supp(70) in DS-3 as shown in Figure-4.7, and finally 53%, 1% &amp; 1% faster for Min_Supp(30), Min_Supp(50) &amp; Min_Supp(70) in DS-3 as shown in Figure-4.8 </a:t>
            </a:r>
          </a:p>
        </p:txBody>
      </p:sp>
    </p:spTree>
    <p:extLst>
      <p:ext uri="{BB962C8B-B14F-4D97-AF65-F5344CB8AC3E}">
        <p14:creationId xmlns:p14="http://schemas.microsoft.com/office/powerpoint/2010/main" val="4002278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8D7CFE-05A5-41CF-AA66-AC45A6BA49EC}"/>
              </a:ext>
            </a:extLst>
          </p:cNvPr>
          <p:cNvSpPr txBox="1"/>
          <p:nvPr/>
        </p:nvSpPr>
        <p:spPr>
          <a:xfrm>
            <a:off x="1351996" y="1734543"/>
            <a:ext cx="10226477" cy="3724096"/>
          </a:xfrm>
          <a:prstGeom prst="rect">
            <a:avLst/>
          </a:prstGeom>
          <a:noFill/>
        </p:spPr>
        <p:txBody>
          <a:bodyPr wrap="square">
            <a:spAutoFit/>
          </a:bodyPr>
          <a:lstStyle/>
          <a:p>
            <a:pPr algn="just"/>
            <a:r>
              <a:rPr lang="en-US" sz="2000" b="0" i="0" u="none" strike="noStrike" baseline="0" dirty="0">
                <a:solidFill>
                  <a:srgbClr val="000000"/>
                </a:solidFill>
                <a:latin typeface="Times New Roman" panose="02020603050405020304" pitchFamily="18" charset="0"/>
              </a:rPr>
              <a:t> </a:t>
            </a:r>
          </a:p>
          <a:p>
            <a:pPr marL="342900" indent="-342900" algn="just">
              <a:buFont typeface="+mj-lt"/>
              <a:buAutoNum type="arabicPeriod"/>
            </a:pPr>
            <a:r>
              <a:rPr lang="en-US" sz="1800" b="0" i="0" u="none" strike="noStrike" baseline="0" dirty="0">
                <a:solidFill>
                  <a:srgbClr val="000000"/>
                </a:solidFill>
                <a:latin typeface="Times New Roman" panose="02020603050405020304" pitchFamily="18" charset="0"/>
              </a:rPr>
              <a:t>Sandeep Kumar , Dr. Rahul Kumar Mishra “</a:t>
            </a:r>
            <a:r>
              <a:rPr lang="en-US" sz="1800" b="1" i="0" u="none" strike="noStrike" baseline="0" dirty="0">
                <a:solidFill>
                  <a:srgbClr val="000000"/>
                </a:solidFill>
                <a:latin typeface="Times New Roman" panose="02020603050405020304" pitchFamily="18" charset="0"/>
              </a:rPr>
              <a:t>An Improved Analysis of FIS through Set- Intersection Method in Association Rule Mining for Textual Dataset</a:t>
            </a:r>
            <a:r>
              <a:rPr lang="en-US" sz="1800" b="0" i="0" u="none" strike="noStrike" baseline="0" dirty="0">
                <a:solidFill>
                  <a:srgbClr val="000000"/>
                </a:solidFill>
                <a:latin typeface="Times New Roman" panose="02020603050405020304" pitchFamily="18" charset="0"/>
              </a:rPr>
              <a:t>” in Indian Journal of Natural Sciences </a:t>
            </a:r>
            <a:r>
              <a:rPr lang="en-US" sz="1800" b="1" i="0" u="none" strike="noStrike" baseline="0" dirty="0">
                <a:solidFill>
                  <a:srgbClr val="000000"/>
                </a:solidFill>
                <a:latin typeface="Times New Roman" panose="02020603050405020304" pitchFamily="18" charset="0"/>
              </a:rPr>
              <a:t>(Web of Science Indexed )</a:t>
            </a:r>
            <a:r>
              <a:rPr lang="en-US" sz="1800" b="0" i="0" u="none" strike="noStrike" baseline="0" dirty="0">
                <a:solidFill>
                  <a:srgbClr val="000000"/>
                </a:solidFill>
                <a:latin typeface="Times New Roman" panose="02020603050405020304" pitchFamily="18" charset="0"/>
              </a:rPr>
              <a:t>, Vol.14 / Issue 78 / June / 2023 0976 – 0997</a:t>
            </a:r>
          </a:p>
          <a:p>
            <a:pPr marL="342900" indent="-342900" algn="just">
              <a:buFont typeface="+mj-lt"/>
              <a:buAutoNum type="arabicPeriod"/>
            </a:pPr>
            <a:endParaRPr lang="en-US" sz="1800" b="0" i="0" u="none" strike="noStrike" baseline="0" dirty="0">
              <a:solidFill>
                <a:srgbClr val="000000"/>
              </a:solidFill>
              <a:latin typeface="Times New Roman" panose="02020603050405020304" pitchFamily="18" charset="0"/>
            </a:endParaRPr>
          </a:p>
          <a:p>
            <a:pPr marL="342900" indent="-342900" algn="just">
              <a:buFont typeface="+mj-lt"/>
              <a:buAutoNum type="arabicPeriod"/>
            </a:pPr>
            <a:r>
              <a:rPr lang="en-US" dirty="0">
                <a:solidFill>
                  <a:srgbClr val="000000"/>
                </a:solidFill>
                <a:latin typeface="Times New Roman" panose="02020603050405020304" pitchFamily="18" charset="0"/>
              </a:rPr>
              <a:t>Sandeep Kumar , Dr. Rahul Kumar Mishra “</a:t>
            </a:r>
            <a:r>
              <a:rPr lang="en-US" b="1" dirty="0">
                <a:solidFill>
                  <a:srgbClr val="000000"/>
                </a:solidFill>
                <a:latin typeface="Times New Roman" panose="02020603050405020304" pitchFamily="18" charset="0"/>
              </a:rPr>
              <a:t>Enhancing Access Time Recovery using ARM through Intersection on CSS: A Matrix-based Approach for Redefining FIS in Textual Data</a:t>
            </a:r>
            <a:r>
              <a:rPr lang="en-US" dirty="0">
                <a:solidFill>
                  <a:srgbClr val="000000"/>
                </a:solidFill>
                <a:latin typeface="Times New Roman" panose="02020603050405020304" pitchFamily="18" charset="0"/>
              </a:rPr>
              <a:t>” in Indian Journal of Natural Sciences </a:t>
            </a:r>
            <a:r>
              <a:rPr lang="en-US" b="1" dirty="0">
                <a:solidFill>
                  <a:srgbClr val="000000"/>
                </a:solidFill>
                <a:latin typeface="Times New Roman" panose="02020603050405020304" pitchFamily="18" charset="0"/>
              </a:rPr>
              <a:t>(Web of Science Indexed )</a:t>
            </a:r>
            <a:r>
              <a:rPr lang="en-US" dirty="0">
                <a:solidFill>
                  <a:srgbClr val="000000"/>
                </a:solidFill>
                <a:latin typeface="Times New Roman" panose="02020603050405020304" pitchFamily="18" charset="0"/>
              </a:rPr>
              <a:t>, Vol.14 / Issue 78 / June / 2023 0976 – 0997</a:t>
            </a:r>
          </a:p>
          <a:p>
            <a:pPr marL="342900" indent="-342900" algn="just">
              <a:buFont typeface="+mj-lt"/>
              <a:buAutoNum type="arabicPeriod"/>
            </a:pPr>
            <a:endParaRPr lang="en-US" sz="1800" b="0" i="0" u="none" strike="noStrike" baseline="0" dirty="0">
              <a:solidFill>
                <a:srgbClr val="000000"/>
              </a:solidFill>
              <a:latin typeface="Times New Roman" panose="02020603050405020304" pitchFamily="18" charset="0"/>
            </a:endParaRPr>
          </a:p>
          <a:p>
            <a:pPr marL="398463" indent="-342900" algn="just">
              <a:buFont typeface="+mj-lt"/>
              <a:buAutoNum type="arabicPeriod"/>
            </a:pPr>
            <a:r>
              <a:rPr lang="en-US" dirty="0">
                <a:latin typeface="Times New Roman" panose="02020603050405020304" pitchFamily="18" charset="0"/>
              </a:rPr>
              <a:t>Sandeep Kumar, Dr. Rahul Kumar Mishra </a:t>
            </a:r>
            <a:r>
              <a:rPr lang="en-US" b="1" dirty="0">
                <a:latin typeface="Times New Roman" panose="02020603050405020304" pitchFamily="18" charset="0"/>
              </a:rPr>
              <a:t>“Performance Analysis of Market Basket Analysis Algorithms ”, </a:t>
            </a:r>
            <a:r>
              <a:rPr lang="en-US" dirty="0">
                <a:latin typeface="Times New Roman" panose="02020603050405020304" pitchFamily="18" charset="0"/>
              </a:rPr>
              <a:t>International Conference on Information Management and Machine Intelligence, Jaipur, (ICIMMI2023) </a:t>
            </a:r>
            <a:r>
              <a:rPr lang="en-US" b="1" dirty="0">
                <a:latin typeface="Times New Roman" panose="02020603050405020304" pitchFamily="18" charset="0"/>
              </a:rPr>
              <a:t>Springer &amp; Scopus Index </a:t>
            </a:r>
            <a:endParaRPr lang="en-US" dirty="0">
              <a:latin typeface="Times New Roman" panose="02020603050405020304" pitchFamily="18" charset="0"/>
            </a:endParaRPr>
          </a:p>
          <a:p>
            <a:pPr marL="290513" indent="-234950" algn="just"/>
            <a:endParaRPr lang="en-US" sz="1800" b="0" i="0" u="none" strike="noStrike" baseline="0" dirty="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B124AE97-B433-4488-9D69-90F8377E7348}"/>
              </a:ext>
            </a:extLst>
          </p:cNvPr>
          <p:cNvSpPr txBox="1"/>
          <p:nvPr/>
        </p:nvSpPr>
        <p:spPr>
          <a:xfrm>
            <a:off x="1787236" y="474345"/>
            <a:ext cx="6096000" cy="523220"/>
          </a:xfrm>
          <a:prstGeom prst="rect">
            <a:avLst/>
          </a:prstGeom>
          <a:noFill/>
        </p:spPr>
        <p:txBody>
          <a:bodyPr wrap="square">
            <a:spAutoFit/>
          </a:bodyPr>
          <a:lstStyle/>
          <a:p>
            <a:r>
              <a:rPr lang="en-US" sz="1800" b="0" i="0" u="none" strike="noStrike" baseline="0" dirty="0">
                <a:solidFill>
                  <a:srgbClr val="000000"/>
                </a:solidFill>
              </a:rPr>
              <a:t> </a:t>
            </a:r>
            <a:r>
              <a:rPr lang="en-US" sz="2800" b="1" dirty="0">
                <a:solidFill>
                  <a:srgbClr val="000000"/>
                </a:solidFill>
                <a:latin typeface="Times New Roman" panose="02020603050405020304" pitchFamily="18" charset="0"/>
                <a:cs typeface="Times New Roman" panose="02020603050405020304" pitchFamily="18" charset="0"/>
              </a:rPr>
              <a:t>PUBLICATIONS- JOURNALS</a:t>
            </a:r>
            <a:r>
              <a:rPr lang="en-US" sz="1800" b="0" i="0" u="none" strike="noStrike" baseline="0" dirty="0">
                <a:solidFill>
                  <a:srgbClr val="000000"/>
                </a:solidFill>
              </a:rPr>
              <a:t> </a:t>
            </a:r>
            <a:endParaRPr lang="en-US" dirty="0"/>
          </a:p>
        </p:txBody>
      </p:sp>
    </p:spTree>
    <p:extLst>
      <p:ext uri="{BB962C8B-B14F-4D97-AF65-F5344CB8AC3E}">
        <p14:creationId xmlns:p14="http://schemas.microsoft.com/office/powerpoint/2010/main" val="2363999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7B46E6-EC18-41B8-AB33-5EF1B2C45D24}"/>
              </a:ext>
            </a:extLst>
          </p:cNvPr>
          <p:cNvSpPr txBox="1"/>
          <p:nvPr/>
        </p:nvSpPr>
        <p:spPr>
          <a:xfrm>
            <a:off x="1787236" y="474345"/>
            <a:ext cx="6096000" cy="523220"/>
          </a:xfrm>
          <a:prstGeom prst="rect">
            <a:avLst/>
          </a:prstGeom>
          <a:noFill/>
        </p:spPr>
        <p:txBody>
          <a:bodyPr wrap="square">
            <a:spAutoFit/>
          </a:bodyPr>
          <a:lstStyle/>
          <a:p>
            <a:r>
              <a:rPr lang="en-US" sz="1800" b="0" i="0" u="none" strike="noStrike" baseline="0" dirty="0">
                <a:solidFill>
                  <a:srgbClr val="000000"/>
                </a:solidFill>
              </a:rPr>
              <a:t> </a:t>
            </a:r>
            <a:r>
              <a:rPr lang="en-US" sz="2800" b="1" dirty="0">
                <a:solidFill>
                  <a:srgbClr val="000000"/>
                </a:solidFill>
                <a:latin typeface="Times New Roman" panose="02020603050405020304" pitchFamily="18" charset="0"/>
                <a:cs typeface="Times New Roman" panose="02020603050405020304" pitchFamily="18" charset="0"/>
              </a:rPr>
              <a:t>PUBLICATIONS- CONFERENCS</a:t>
            </a:r>
            <a:r>
              <a:rPr lang="en-US" sz="1800" b="0" i="0" u="none" strike="noStrike" baseline="0" dirty="0">
                <a:solidFill>
                  <a:srgbClr val="000000"/>
                </a:solidFill>
              </a:rPr>
              <a:t> </a:t>
            </a:r>
            <a:endParaRPr lang="en-US" dirty="0"/>
          </a:p>
        </p:txBody>
      </p:sp>
    </p:spTree>
    <p:extLst>
      <p:ext uri="{BB962C8B-B14F-4D97-AF65-F5344CB8AC3E}">
        <p14:creationId xmlns:p14="http://schemas.microsoft.com/office/powerpoint/2010/main" val="3726031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C45717-0B54-4A5C-9146-ABF16ED3BEF1}"/>
              </a:ext>
            </a:extLst>
          </p:cNvPr>
          <p:cNvSpPr txBox="1"/>
          <p:nvPr/>
        </p:nvSpPr>
        <p:spPr>
          <a:xfrm>
            <a:off x="1734735" y="-18098"/>
            <a:ext cx="10155381" cy="6894195"/>
          </a:xfrm>
          <a:prstGeom prst="rect">
            <a:avLst/>
          </a:prstGeom>
          <a:noFill/>
        </p:spPr>
        <p:txBody>
          <a:bodyPr wrap="square">
            <a:spAutoFit/>
          </a:bodyPr>
          <a:lstStyle/>
          <a:p>
            <a:pPr algn="just"/>
            <a:r>
              <a:rPr lang="en-US" sz="2800" b="1" dirty="0">
                <a:solidFill>
                  <a:srgbClr val="000000"/>
                </a:solidFill>
                <a:latin typeface="Times New Roman" panose="02020603050405020304" pitchFamily="18" charset="0"/>
                <a:cs typeface="Times New Roman" panose="02020603050405020304" pitchFamily="18" charset="0"/>
              </a:rPr>
              <a:t>References</a:t>
            </a:r>
            <a:endParaRPr lang="en-US" sz="2000" b="0" i="0" u="none" strike="noStrike" baseline="0" dirty="0">
              <a:solidFill>
                <a:srgbClr val="000000"/>
              </a:solidFill>
              <a:latin typeface="Times New Roman" panose="02020603050405020304" pitchFamily="18" charset="0"/>
            </a:endParaRPr>
          </a:p>
          <a:p>
            <a:pPr algn="just"/>
            <a:r>
              <a:rPr lang="en-US" sz="1800" b="0" i="0" u="none" strike="noStrike" baseline="0" dirty="0">
                <a:solidFill>
                  <a:srgbClr val="000000"/>
                </a:solidFill>
                <a:latin typeface="Times New Roman" panose="02020603050405020304" pitchFamily="18" charset="0"/>
              </a:rPr>
              <a:t>Wang, </a:t>
            </a:r>
            <a:r>
              <a:rPr lang="en-US" sz="1800" b="0" i="0" u="none" strike="noStrike" baseline="0" dirty="0" err="1">
                <a:solidFill>
                  <a:srgbClr val="000000"/>
                </a:solidFill>
                <a:latin typeface="Times New Roman" panose="02020603050405020304" pitchFamily="18" charset="0"/>
              </a:rPr>
              <a:t>Chien</a:t>
            </a:r>
            <a:r>
              <a:rPr lang="en-US" sz="1800" b="0" i="0" u="none" strike="noStrike" baseline="0" dirty="0">
                <a:solidFill>
                  <a:srgbClr val="000000"/>
                </a:solidFill>
                <a:latin typeface="Times New Roman" panose="02020603050405020304" pitchFamily="18" charset="0"/>
              </a:rPr>
              <a:t>-Hua, et al. “Mining Association Rules for Concept Hierarchy in Large Database.” Journal of Interdisciplinary Mathematics, vol. 21, no. 2, 17 Feb. 2018, pp. 457–467, 10.1080/09720502.2017.1420575. Accessed 4 Nov. 2021. </a:t>
            </a:r>
          </a:p>
          <a:p>
            <a:pPr algn="just"/>
            <a:endParaRPr lang="en-US" dirty="0">
              <a:solidFill>
                <a:srgbClr val="000000"/>
              </a:solidFill>
              <a:latin typeface="Times New Roman" panose="02020603050405020304" pitchFamily="18" charset="0"/>
            </a:endParaRPr>
          </a:p>
          <a:p>
            <a:pPr algn="just"/>
            <a:endParaRPr lang="en-US" sz="1800" b="0" i="0" u="none" strike="noStrike" baseline="0" dirty="0">
              <a:solidFill>
                <a:srgbClr val="000000"/>
              </a:solidFill>
              <a:latin typeface="Times New Roman" panose="02020603050405020304" pitchFamily="18" charset="0"/>
            </a:endParaRPr>
          </a:p>
          <a:p>
            <a:pPr algn="just"/>
            <a:r>
              <a:rPr lang="en-US" sz="1800" b="0" i="0" u="none" strike="noStrike" baseline="0" dirty="0">
                <a:solidFill>
                  <a:srgbClr val="000000"/>
                </a:solidFill>
                <a:latin typeface="Times New Roman" panose="02020603050405020304" pitchFamily="18" charset="0"/>
              </a:rPr>
              <a:t>Crespo, Fernando, and Richard Weber. “A Methodology for Dynamic Data Mining Based on Fuzzy Clustering.” Fuzzy Sets and Systems, vol. 150, no. 2, Mar. 2005, pp. 267–284, 10.1016/j.fss.2004.03.028. </a:t>
            </a:r>
          </a:p>
          <a:p>
            <a:pPr algn="just"/>
            <a:r>
              <a:rPr lang="en-US" sz="1800" b="0" i="0" u="none" strike="noStrike" baseline="0" dirty="0" err="1">
                <a:solidFill>
                  <a:srgbClr val="000000"/>
                </a:solidFill>
                <a:latin typeface="Times New Roman" panose="02020603050405020304" pitchFamily="18" charset="0"/>
              </a:rPr>
              <a:t>Rustogi</a:t>
            </a:r>
            <a:r>
              <a:rPr lang="en-US" sz="1800" b="0" i="0" u="none" strike="noStrike" baseline="0" dirty="0">
                <a:solidFill>
                  <a:srgbClr val="000000"/>
                </a:solidFill>
                <a:latin typeface="Times New Roman" panose="02020603050405020304" pitchFamily="18" charset="0"/>
              </a:rPr>
              <a:t>, Swati, et al. “TID Based Data and Task Parallelism for Frequent Data Mining.” Journal of Information and Optimization Sciences, vol. 38, no. 6, 18 Aug. 2017, pp. 961–970, 10.1080/02522667.2017.1372143. Accessed 23 Feb. 2020. </a:t>
            </a:r>
          </a:p>
          <a:p>
            <a:pPr algn="just"/>
            <a:endParaRPr lang="en-US" sz="1800" b="0" i="0" u="none" strike="noStrike" baseline="0" dirty="0">
              <a:solidFill>
                <a:srgbClr val="000000"/>
              </a:solidFill>
              <a:latin typeface="Times New Roman" panose="02020603050405020304" pitchFamily="18" charset="0"/>
            </a:endParaRPr>
          </a:p>
          <a:p>
            <a:pPr algn="just"/>
            <a:r>
              <a:rPr lang="en-US" sz="1800" b="0" i="0" u="none" strike="noStrike" baseline="0" dirty="0">
                <a:solidFill>
                  <a:srgbClr val="000000"/>
                </a:solidFill>
                <a:latin typeface="Times New Roman" panose="02020603050405020304" pitchFamily="18" charset="0"/>
              </a:rPr>
              <a:t>Wu, </a:t>
            </a:r>
            <a:r>
              <a:rPr lang="en-US" sz="1800" b="0" i="0" u="none" strike="noStrike" baseline="0" dirty="0" err="1">
                <a:solidFill>
                  <a:srgbClr val="000000"/>
                </a:solidFill>
                <a:latin typeface="Times New Roman" panose="02020603050405020304" pitchFamily="18" charset="0"/>
              </a:rPr>
              <a:t>Xindong</a:t>
            </a:r>
            <a:r>
              <a:rPr lang="en-US" sz="1800" b="0" i="0" u="none" strike="noStrike" baseline="0" dirty="0">
                <a:solidFill>
                  <a:srgbClr val="000000"/>
                </a:solidFill>
                <a:latin typeface="Times New Roman" panose="02020603050405020304" pitchFamily="18" charset="0"/>
              </a:rPr>
              <a:t>, et al. “Top 10 Algorithms in Data Mining.” Knowledge and Information Systems, vol. 14, no. 1, 4 Dec. 2007, pp. 1–37, link.springer.com /article/10.1007%2Fs 10115-007-0114-2, 10.1007/s10115-007-0114-2 </a:t>
            </a:r>
            <a:r>
              <a:rPr lang="en-US" sz="1800" b="0" i="0" u="none" strike="noStrike" baseline="0" dirty="0" err="1">
                <a:solidFill>
                  <a:srgbClr val="000000"/>
                </a:solidFill>
                <a:latin typeface="Times New Roman" panose="02020603050405020304" pitchFamily="18" charset="0"/>
              </a:rPr>
              <a:t>dAgrawal</a:t>
            </a:r>
            <a:r>
              <a:rPr lang="en-US" sz="1800" b="0" i="0" u="none" strike="noStrike" baseline="0" dirty="0">
                <a:solidFill>
                  <a:srgbClr val="000000"/>
                </a:solidFill>
                <a:latin typeface="Times New Roman" panose="02020603050405020304" pitchFamily="18" charset="0"/>
              </a:rPr>
              <a:t> R, </a:t>
            </a:r>
            <a:r>
              <a:rPr lang="en-US" sz="1800" b="0" i="0" u="none" strike="noStrike" baseline="0" dirty="0" err="1">
                <a:solidFill>
                  <a:srgbClr val="000000"/>
                </a:solidFill>
                <a:latin typeface="Times New Roman" panose="02020603050405020304" pitchFamily="18" charset="0"/>
              </a:rPr>
              <a:t>Imieli</a:t>
            </a:r>
            <a:r>
              <a:rPr lang="en-US" sz="1800" b="0" i="0" u="none" strike="noStrike" baseline="0" dirty="0">
                <a:solidFill>
                  <a:srgbClr val="000000"/>
                </a:solidFill>
                <a:latin typeface="Times New Roman" panose="02020603050405020304" pitchFamily="18" charset="0"/>
              </a:rPr>
              <a:t> ski T, and Swami A, “Mining association rules between sets of items in large databases,” in </a:t>
            </a:r>
            <a:r>
              <a:rPr lang="en-US" sz="1800" b="0" i="0" u="none" strike="noStrike" baseline="0" dirty="0" err="1">
                <a:solidFill>
                  <a:srgbClr val="000000"/>
                </a:solidFill>
                <a:latin typeface="Times New Roman" panose="02020603050405020304" pitchFamily="18" charset="0"/>
              </a:rPr>
              <a:t>Acm</a:t>
            </a:r>
            <a:r>
              <a:rPr lang="en-US" sz="1800" b="0" i="0" u="none" strike="noStrike" baseline="0" dirty="0">
                <a:solidFill>
                  <a:srgbClr val="000000"/>
                </a:solidFill>
                <a:latin typeface="Times New Roman" panose="02020603050405020304" pitchFamily="18" charset="0"/>
              </a:rPr>
              <a:t> Sig Mod Record, vol. 22, pp. 207–216, 1993. </a:t>
            </a:r>
          </a:p>
          <a:p>
            <a:pPr algn="just"/>
            <a:endParaRPr lang="en-US" sz="1800" b="0" i="0" u="none" strike="noStrike" baseline="0" dirty="0">
              <a:solidFill>
                <a:srgbClr val="000000"/>
              </a:solidFill>
              <a:latin typeface="Times New Roman" panose="02020603050405020304" pitchFamily="18" charset="0"/>
            </a:endParaRPr>
          </a:p>
          <a:p>
            <a:pPr algn="just"/>
            <a:r>
              <a:rPr lang="en-US" sz="1800" b="0" i="0" u="none" strike="noStrike" baseline="0" dirty="0">
                <a:solidFill>
                  <a:srgbClr val="000000"/>
                </a:solidFill>
                <a:latin typeface="Times New Roman" panose="02020603050405020304" pitchFamily="18" charset="0"/>
              </a:rPr>
              <a:t>Ajay Acharya, Shweta Modi “An Algorithm for Finding Frequent Itemset based on Lattice Approach for Lower Cardinality Dense and Sparse Dataset”, International Journal on Computer Science and Engineering (IJCSE), ISSN : 0975-3397 Vol. 3 No. 1 Jan 2011, pp. 371-378. </a:t>
            </a:r>
          </a:p>
          <a:p>
            <a:pPr algn="just"/>
            <a:endParaRPr lang="en-US" sz="1800" b="0" i="0" u="none" strike="noStrike" baseline="0" dirty="0">
              <a:solidFill>
                <a:srgbClr val="000000"/>
              </a:solidFill>
              <a:latin typeface="Times New Roman" panose="02020603050405020304" pitchFamily="18" charset="0"/>
            </a:endParaRPr>
          </a:p>
          <a:p>
            <a:pPr algn="just"/>
            <a:r>
              <a:rPr lang="en-US" sz="1800" b="0" i="0" u="none" strike="noStrike" baseline="0" dirty="0" err="1">
                <a:solidFill>
                  <a:srgbClr val="000000"/>
                </a:solidFill>
                <a:latin typeface="Times New Roman" panose="02020603050405020304" pitchFamily="18" charset="0"/>
              </a:rPr>
              <a:t>Akshita</a:t>
            </a:r>
            <a:r>
              <a:rPr lang="en-US" sz="1800" b="0" i="0" u="none" strike="noStrike" baseline="0" dirty="0">
                <a:solidFill>
                  <a:srgbClr val="000000"/>
                </a:solidFill>
                <a:latin typeface="Times New Roman" panose="02020603050405020304" pitchFamily="18" charset="0"/>
              </a:rPr>
              <a:t> Bhandari, Ashutosh Gupta, </a:t>
            </a:r>
            <a:r>
              <a:rPr lang="en-US" sz="1800" b="0" i="0" u="none" strike="noStrike" baseline="0" dirty="0" err="1">
                <a:solidFill>
                  <a:srgbClr val="000000"/>
                </a:solidFill>
                <a:latin typeface="Times New Roman" panose="02020603050405020304" pitchFamily="18" charset="0"/>
              </a:rPr>
              <a:t>Debasis</a:t>
            </a:r>
            <a:r>
              <a:rPr lang="en-US" sz="1800" b="0" i="0" u="none" strike="noStrike" baseline="0" dirty="0">
                <a:solidFill>
                  <a:srgbClr val="000000"/>
                </a:solidFill>
                <a:latin typeface="Times New Roman" panose="02020603050405020304" pitchFamily="18" charset="0"/>
              </a:rPr>
              <a:t> Das “Improvised </a:t>
            </a:r>
            <a:r>
              <a:rPr lang="en-US" sz="1800" b="0" i="0" u="none" strike="noStrike" baseline="0" dirty="0" err="1">
                <a:solidFill>
                  <a:srgbClr val="000000"/>
                </a:solidFill>
                <a:latin typeface="Times New Roman" panose="02020603050405020304" pitchFamily="18" charset="0"/>
              </a:rPr>
              <a:t>apriori</a:t>
            </a:r>
            <a:r>
              <a:rPr lang="en-US" sz="1800" b="0" i="0" u="none" strike="noStrike" baseline="0" dirty="0">
                <a:solidFill>
                  <a:srgbClr val="000000"/>
                </a:solidFill>
                <a:latin typeface="Times New Roman" panose="02020603050405020304" pitchFamily="18" charset="0"/>
              </a:rPr>
              <a:t> algorithm using frequent pattern tree for real time applications in data mining”, Conference on information and Communication Technologies (ICICT 2014). </a:t>
            </a:r>
            <a:endParaRPr lang="en-US" dirty="0"/>
          </a:p>
        </p:txBody>
      </p:sp>
    </p:spTree>
    <p:extLst>
      <p:ext uri="{BB962C8B-B14F-4D97-AF65-F5344CB8AC3E}">
        <p14:creationId xmlns:p14="http://schemas.microsoft.com/office/powerpoint/2010/main" val="26063858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A3AB840-0357-1252-AF3F-36E7D5C7504F}"/>
              </a:ext>
            </a:extLst>
          </p:cNvPr>
          <p:cNvPicPr>
            <a:picLocks noChangeAspect="1"/>
          </p:cNvPicPr>
          <p:nvPr/>
        </p:nvPicPr>
        <p:blipFill>
          <a:blip r:embed="rId2"/>
          <a:stretch>
            <a:fillRect/>
          </a:stretch>
        </p:blipFill>
        <p:spPr>
          <a:xfrm>
            <a:off x="2777252" y="1623302"/>
            <a:ext cx="7108552" cy="3999323"/>
          </a:xfrm>
          <a:prstGeom prst="rect">
            <a:avLst/>
          </a:prstGeom>
        </p:spPr>
      </p:pic>
    </p:spTree>
    <p:extLst>
      <p:ext uri="{BB962C8B-B14F-4D97-AF65-F5344CB8AC3E}">
        <p14:creationId xmlns:p14="http://schemas.microsoft.com/office/powerpoint/2010/main" val="3458266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A5FDD7-EC9D-B363-CFC3-A898575E893F}"/>
              </a:ext>
            </a:extLst>
          </p:cNvPr>
          <p:cNvPicPr>
            <a:picLocks noChangeAspect="1"/>
          </p:cNvPicPr>
          <p:nvPr/>
        </p:nvPicPr>
        <p:blipFill>
          <a:blip r:embed="rId3"/>
          <a:stretch>
            <a:fillRect/>
          </a:stretch>
        </p:blipFill>
        <p:spPr>
          <a:xfrm>
            <a:off x="2615593" y="1702290"/>
            <a:ext cx="8007927" cy="3453419"/>
          </a:xfrm>
          <a:prstGeom prst="rect">
            <a:avLst/>
          </a:prstGeom>
        </p:spPr>
      </p:pic>
    </p:spTree>
    <p:extLst>
      <p:ext uri="{BB962C8B-B14F-4D97-AF65-F5344CB8AC3E}">
        <p14:creationId xmlns:p14="http://schemas.microsoft.com/office/powerpoint/2010/main" val="944823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12608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2414</TotalTime>
  <Words>2758</Words>
  <Application>Microsoft Office PowerPoint</Application>
  <PresentationFormat>Widescreen</PresentationFormat>
  <Paragraphs>312</Paragraphs>
  <Slides>41</Slides>
  <Notes>5</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41</vt:i4>
      </vt:variant>
    </vt:vector>
  </HeadingPairs>
  <TitlesOfParts>
    <vt:vector size="54" baseType="lpstr">
      <vt:lpstr>Arial</vt:lpstr>
      <vt:lpstr>Arial</vt:lpstr>
      <vt:lpstr>Calibri</vt:lpstr>
      <vt:lpstr>Cambria</vt:lpstr>
      <vt:lpstr>Century Gothic</vt:lpstr>
      <vt:lpstr>Times New Roman</vt:lpstr>
      <vt:lpstr>Times-Bold</vt:lpstr>
      <vt:lpstr>Times-Roman</vt:lpstr>
      <vt:lpstr>Wingdings</vt:lpstr>
      <vt:lpstr>Wingdings 3</vt:lpstr>
      <vt:lpstr>Wisp</vt:lpstr>
      <vt:lpstr>1_Wisp</vt:lpstr>
      <vt:lpstr>Worksheet</vt:lpstr>
      <vt:lpstr>   Pre- PhD Thesis Presentation  on  An Alternative Approach to Redefine Apriori Algorithm by Reducing the Time Complexity Using Textual Data</vt:lpstr>
      <vt:lpstr>Table of Content:</vt:lpstr>
      <vt:lpstr>1. Introduction of Data Mining</vt:lpstr>
      <vt:lpstr>PowerPoint Presentation</vt:lpstr>
      <vt:lpstr>3. Data Mining Techniques</vt:lpstr>
      <vt:lpstr>4. Classification</vt:lpstr>
      <vt:lpstr>PowerPoint Presentation</vt:lpstr>
      <vt:lpstr>PowerPoint Presentation</vt:lpstr>
      <vt:lpstr>PowerPoint Presentation</vt:lpstr>
      <vt:lpstr>6. Introduction of Apriori Algorithm</vt:lpstr>
      <vt:lpstr>PowerPoint Presentation</vt:lpstr>
      <vt:lpstr>PowerPoint Presentation</vt:lpstr>
      <vt:lpstr>Contd…</vt:lpstr>
      <vt:lpstr>8. Apriori Algorithm &amp; Flow Chart</vt:lpstr>
      <vt:lpstr>9. APRIORI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Clustering based on Self-Organising Map</dc:title>
  <dc:creator>SAUMYA</dc:creator>
  <cp:lastModifiedBy>Sandeep Kaushik</cp:lastModifiedBy>
  <cp:revision>170</cp:revision>
  <dcterms:created xsi:type="dcterms:W3CDTF">2018-11-16T19:06:00Z</dcterms:created>
  <dcterms:modified xsi:type="dcterms:W3CDTF">2025-06-09T17:28:15Z</dcterms:modified>
</cp:coreProperties>
</file>